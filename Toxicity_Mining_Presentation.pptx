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89" r:id="rId1"/>
  </p:sldMasterIdLst>
  <p:notesMasterIdLst>
    <p:notesMasterId r:id="rId5"/>
  </p:notesMasterIdLst>
  <p:sldIdLst>
    <p:sldId id="288" r:id="rId2"/>
    <p:sldId id="289" r:id="rId3"/>
    <p:sldId id="290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8FFCFC-5663-401B-B572-FDEF68928174}">
  <a:tblStyle styleId="{B98FFCFC-5663-401B-B572-FDEF689281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0"/>
  </p:normalViewPr>
  <p:slideViewPr>
    <p:cSldViewPr snapToGrid="0">
      <p:cViewPr varScale="1">
        <p:scale>
          <a:sx n="158" d="100"/>
          <a:sy n="158" d="100"/>
        </p:scale>
        <p:origin x="512" y="184"/>
      </p:cViewPr>
      <p:guideLst>
        <p:guide orient="horz" pos="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2" name="Google Shape;4322;g3e0317439e5_7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3" name="Google Shape;4323;g3e0317439e5_70_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4" name="Google Shape;4324;g3e0317439e5_70_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6" name="Google Shape;4376;g3e0317439e5_7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7" name="Google Shape;4377;g3e0317439e5_70_5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8" name="Google Shape;4378;g3e0317439e5_70_5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7" name="Google Shape;4437;g3e0317439e5_7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8" name="Google Shape;4438;g3e0317439e5_70_11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9" name="Google Shape;4439;g3e0317439e5_70_11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Shape 4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6" name="Google Shape;4326;p179"/>
          <p:cNvSpPr/>
          <p:nvPr/>
        </p:nvSpPr>
        <p:spPr>
          <a:xfrm>
            <a:off x="274320" y="16459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DF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7" name="Google Shape;4327;p179"/>
          <p:cNvSpPr/>
          <p:nvPr/>
        </p:nvSpPr>
        <p:spPr>
          <a:xfrm>
            <a:off x="274320" y="16459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113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3113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8" name="Google Shape;4328;p179"/>
          <p:cNvSpPr/>
          <p:nvPr/>
        </p:nvSpPr>
        <p:spPr>
          <a:xfrm>
            <a:off x="1188720" y="146304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Social Media Hate Speech and Toxicity Mining Using NLP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9" name="Google Shape;4329;p179"/>
          <p:cNvSpPr/>
          <p:nvPr/>
        </p:nvSpPr>
        <p:spPr>
          <a:xfrm>
            <a:off x="274320" y="47548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Jigsaw (1.8M) + TweetEval (9K)  |  58,954 modeling records  |  Group 11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0" name="Google Shape;4330;p179"/>
          <p:cNvCxnSpPr/>
          <p:nvPr/>
        </p:nvCxnSpPr>
        <p:spPr>
          <a:xfrm>
            <a:off x="274320" y="731520"/>
            <a:ext cx="8595360" cy="0"/>
          </a:xfrm>
          <a:prstGeom prst="straightConnector1">
            <a:avLst/>
          </a:prstGeom>
          <a:noFill/>
          <a:ln w="9525" cap="flat" cmpd="sng">
            <a:solidFill>
              <a:srgbClr val="D8C8B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31" name="Google Shape;4331;p179"/>
          <p:cNvSpPr/>
          <p:nvPr/>
        </p:nvSpPr>
        <p:spPr>
          <a:xfrm>
            <a:off x="274320" y="868680"/>
            <a:ext cx="5029200" cy="1874520"/>
          </a:xfrm>
          <a:prstGeom prst="roundRect">
            <a:avLst>
              <a:gd name="adj" fmla="val 6829"/>
            </a:avLst>
          </a:prstGeom>
          <a:solidFill>
            <a:srgbClr val="F3EBE0"/>
          </a:solidFill>
          <a:ln>
            <a:noFill/>
          </a:ln>
          <a:effectLst>
            <a:outerShdw blurRad="127000" dist="1905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2" name="Google Shape;4332;p179"/>
          <p:cNvSpPr/>
          <p:nvPr/>
        </p:nvSpPr>
        <p:spPr>
          <a:xfrm>
            <a:off x="457200" y="987552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rPr>
              <a:t>WHAT WE BUILT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3" name="Google Shape;4333;p179"/>
          <p:cNvSpPr/>
          <p:nvPr/>
        </p:nvSpPr>
        <p:spPr>
          <a:xfrm>
            <a:off x="457200" y="123444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1000"/>
              <a:buFont typeface="Arial"/>
              <a:buNone/>
            </a:pPr>
            <a:r>
              <a:rPr lang="en" sz="1000" b="0" i="1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A full NLP pipeline for detecting hate speech and toxicity across social media, covering data acquisition through model evaluation.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4" name="Google Shape;4334;p179"/>
          <p:cNvSpPr/>
          <p:nvPr/>
        </p:nvSpPr>
        <p:spPr>
          <a:xfrm>
            <a:off x="457200" y="1737350"/>
            <a:ext cx="4663500" cy="8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•  Two sources: Google Jigsaw Civil Comments (~1.8M forum comments) and TweetEval benchmark (9,000 tweets).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B544D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•  Final modeling dataset: 58,954 records after stratified sampling and merging.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B544D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•  Label split: 51.2% non-toxic, 48.8% toxic — reasonably balanced.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B544D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•  Key challenge: Only 2.6% vocabulary overlap (Jigsaw vs Twitter) creates a cross-platform domain gap.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5" name="Google Shape;4335;p179"/>
          <p:cNvSpPr/>
          <p:nvPr/>
        </p:nvSpPr>
        <p:spPr>
          <a:xfrm>
            <a:off x="5486400" y="868680"/>
            <a:ext cx="3383280" cy="1874520"/>
          </a:xfrm>
          <a:prstGeom prst="roundRect">
            <a:avLst>
              <a:gd name="adj" fmla="val 6829"/>
            </a:avLst>
          </a:prstGeom>
          <a:solidFill>
            <a:srgbClr val="8B4513"/>
          </a:solidFill>
          <a:ln>
            <a:noFill/>
          </a:ln>
          <a:effectLst>
            <a:outerShdw blurRad="127000" dist="1905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6" name="Google Shape;4336;p179"/>
          <p:cNvSpPr/>
          <p:nvPr/>
        </p:nvSpPr>
        <p:spPr>
          <a:xfrm>
            <a:off x="5669280" y="98755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FC2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FFDFC2"/>
                </a:solidFill>
                <a:latin typeface="Arial"/>
                <a:ea typeface="Arial"/>
                <a:cs typeface="Arial"/>
                <a:sym typeface="Arial"/>
              </a:rPr>
              <a:t>PROJECT AT A GLANCE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7" name="Google Shape;4337;p179"/>
          <p:cNvSpPr/>
          <p:nvPr/>
        </p:nvSpPr>
        <p:spPr>
          <a:xfrm>
            <a:off x="5669280" y="12801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8" name="Google Shape;4338;p179"/>
          <p:cNvSpPr/>
          <p:nvPr/>
        </p:nvSpPr>
        <p:spPr>
          <a:xfrm>
            <a:off x="5669280" y="173736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FC2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FFDFC2"/>
                </a:solidFill>
                <a:latin typeface="Arial"/>
                <a:ea typeface="Arial"/>
                <a:cs typeface="Arial"/>
                <a:sym typeface="Arial"/>
              </a:rPr>
              <a:t>Models Tested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9" name="Google Shape;4339;p179"/>
          <p:cNvSpPr/>
          <p:nvPr/>
        </p:nvSpPr>
        <p:spPr>
          <a:xfrm>
            <a:off x="7223760" y="12801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87.12%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0" name="Google Shape;4340;p179"/>
          <p:cNvSpPr/>
          <p:nvPr/>
        </p:nvSpPr>
        <p:spPr>
          <a:xfrm>
            <a:off x="7223760" y="173736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FC2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FFDFC2"/>
                </a:solidFill>
                <a:latin typeface="Arial"/>
                <a:ea typeface="Arial"/>
                <a:cs typeface="Arial"/>
                <a:sym typeface="Arial"/>
              </a:rPr>
              <a:t>Best Accuracy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1" name="Google Shape;4341;p179"/>
          <p:cNvSpPr/>
          <p:nvPr/>
        </p:nvSpPr>
        <p:spPr>
          <a:xfrm>
            <a:off x="5669280" y="199339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87.39%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2" name="Google Shape;4342;p179"/>
          <p:cNvSpPr/>
          <p:nvPr/>
        </p:nvSpPr>
        <p:spPr>
          <a:xfrm>
            <a:off x="5669280" y="245059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FC2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FFDFC2"/>
                </a:solidFill>
                <a:latin typeface="Arial"/>
                <a:ea typeface="Arial"/>
                <a:cs typeface="Arial"/>
                <a:sym typeface="Arial"/>
              </a:rPr>
              <a:t>Best F1 Score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3" name="Google Shape;4343;p179"/>
          <p:cNvSpPr/>
          <p:nvPr/>
        </p:nvSpPr>
        <p:spPr>
          <a:xfrm>
            <a:off x="7223760" y="199339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4" name="Google Shape;4344;p179"/>
          <p:cNvSpPr/>
          <p:nvPr/>
        </p:nvSpPr>
        <p:spPr>
          <a:xfrm>
            <a:off x="7223760" y="245059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FC2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FFDFC2"/>
                </a:solidFill>
                <a:latin typeface="Arial"/>
                <a:ea typeface="Arial"/>
                <a:cs typeface="Arial"/>
                <a:sym typeface="Arial"/>
              </a:rPr>
              <a:t>ML Categories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5" name="Google Shape;4345;p179"/>
          <p:cNvSpPr/>
          <p:nvPr/>
        </p:nvSpPr>
        <p:spPr>
          <a:xfrm>
            <a:off x="274320" y="2834640"/>
            <a:ext cx="5029200" cy="731520"/>
          </a:xfrm>
          <a:prstGeom prst="roundRect">
            <a:avLst>
              <a:gd name="adj" fmla="val 15000"/>
            </a:avLst>
          </a:prstGeom>
          <a:solidFill>
            <a:srgbClr val="EAE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6" name="Google Shape;4346;p179"/>
          <p:cNvSpPr/>
          <p:nvPr/>
        </p:nvSpPr>
        <p:spPr>
          <a:xfrm>
            <a:off x="457200" y="2926080"/>
            <a:ext cx="4663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rPr>
              <a:t>LABEL DISTRIBUTION (MODELING SET)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7" name="Google Shape;4347;p179"/>
          <p:cNvSpPr/>
          <p:nvPr/>
        </p:nvSpPr>
        <p:spPr>
          <a:xfrm>
            <a:off x="457200" y="3200400"/>
            <a:ext cx="2387681" cy="256032"/>
          </a:xfrm>
          <a:prstGeom prst="roundRect">
            <a:avLst>
              <a:gd name="adj" fmla="val 14286"/>
            </a:avLst>
          </a:prstGeom>
          <a:solidFill>
            <a:srgbClr val="5B75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8" name="Google Shape;4348;p179"/>
          <p:cNvSpPr/>
          <p:nvPr/>
        </p:nvSpPr>
        <p:spPr>
          <a:xfrm>
            <a:off x="457200" y="3200400"/>
            <a:ext cx="238768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Non-Toxic 51.2%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9" name="Google Shape;4349;p179"/>
          <p:cNvSpPr/>
          <p:nvPr/>
        </p:nvSpPr>
        <p:spPr>
          <a:xfrm>
            <a:off x="2844881" y="3200400"/>
            <a:ext cx="2275759" cy="256032"/>
          </a:xfrm>
          <a:prstGeom prst="roundRect">
            <a:avLst>
              <a:gd name="adj" fmla="val 14286"/>
            </a:avLst>
          </a:prstGeom>
          <a:solidFill>
            <a:srgbClr val="8B4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0" name="Google Shape;4350;p179"/>
          <p:cNvSpPr/>
          <p:nvPr/>
        </p:nvSpPr>
        <p:spPr>
          <a:xfrm>
            <a:off x="2844881" y="3200400"/>
            <a:ext cx="2275759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Toxic 48.8%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1" name="Google Shape;4351;p179"/>
          <p:cNvSpPr/>
          <p:nvPr/>
        </p:nvSpPr>
        <p:spPr>
          <a:xfrm>
            <a:off x="5486400" y="2834640"/>
            <a:ext cx="3383280" cy="731520"/>
          </a:xfrm>
          <a:prstGeom prst="roundRect">
            <a:avLst>
              <a:gd name="adj" fmla="val 15000"/>
            </a:avLst>
          </a:prstGeom>
          <a:solidFill>
            <a:srgbClr val="F5DD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2" name="Google Shape;4352;p179"/>
          <p:cNvSpPr/>
          <p:nvPr/>
        </p:nvSpPr>
        <p:spPr>
          <a:xfrm>
            <a:off x="5669280" y="292608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1818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2E1818"/>
                </a:solidFill>
                <a:latin typeface="Arial"/>
                <a:ea typeface="Arial"/>
                <a:cs typeface="Arial"/>
                <a:sym typeface="Arial"/>
              </a:rPr>
              <a:t>CROSS-PLATFORM CHALLENGE</a:t>
            </a:r>
            <a:endParaRPr sz="800" b="1" i="0" u="none" strike="noStrike" cap="none">
              <a:solidFill>
                <a:srgbClr val="2E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E1818"/>
              </a:buClr>
              <a:buSzPts val="800"/>
              <a:buFont typeface="Arial"/>
              <a:buNone/>
            </a:pPr>
            <a:endParaRPr sz="800" b="1">
              <a:solidFill>
                <a:srgbClr val="2E1818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1818"/>
              </a:buClr>
              <a:buSzPts val="850"/>
              <a:buFont typeface="Arial"/>
              <a:buNone/>
            </a:pPr>
            <a:r>
              <a:rPr lang="en" sz="850" b="0" i="0" u="none" strike="noStrike" cap="none">
                <a:solidFill>
                  <a:srgbClr val="2E1818"/>
                </a:solidFill>
                <a:latin typeface="Arial"/>
                <a:ea typeface="Arial"/>
                <a:cs typeface="Arial"/>
                <a:sym typeface="Arial"/>
              </a:rPr>
              <a:t>Only 2.6% vocabulary overlap — domain gap is the primary generalization obstacle.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3" name="Google Shape;4353;p179"/>
          <p:cNvSpPr/>
          <p:nvPr/>
        </p:nvSpPr>
        <p:spPr>
          <a:xfrm>
            <a:off x="274320" y="370332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rPr>
              <a:t>MEET THE TEAM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4" name="Google Shape;4354;p179"/>
          <p:cNvSpPr/>
          <p:nvPr/>
        </p:nvSpPr>
        <p:spPr>
          <a:xfrm>
            <a:off x="274320" y="3931920"/>
            <a:ext cx="2057400" cy="640080"/>
          </a:xfrm>
          <a:prstGeom prst="roundRect">
            <a:avLst>
              <a:gd name="adj" fmla="val 17143"/>
            </a:avLst>
          </a:prstGeom>
          <a:solidFill>
            <a:srgbClr val="F3EB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5" name="Google Shape;4355;p179"/>
          <p:cNvSpPr/>
          <p:nvPr/>
        </p:nvSpPr>
        <p:spPr>
          <a:xfrm>
            <a:off x="411480" y="4050792"/>
            <a:ext cx="411480" cy="411480"/>
          </a:xfrm>
          <a:prstGeom prst="ellipse">
            <a:avLst/>
          </a:prstGeom>
          <a:solidFill>
            <a:srgbClr val="5B75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6" name="Google Shape;4356;p179"/>
          <p:cNvSpPr/>
          <p:nvPr/>
        </p:nvSpPr>
        <p:spPr>
          <a:xfrm>
            <a:off x="411480" y="40507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HJ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7" name="Google Shape;4357;p179"/>
          <p:cNvSpPr/>
          <p:nvPr/>
        </p:nvSpPr>
        <p:spPr>
          <a:xfrm>
            <a:off x="914400" y="402336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950"/>
              <a:buFont typeface="Arial"/>
              <a:buNone/>
            </a:pPr>
            <a:r>
              <a:rPr lang="en" sz="95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Himanshu Jain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EDA &amp; Clustering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8" name="Google Shape;4358;p179"/>
          <p:cNvSpPr/>
          <p:nvPr/>
        </p:nvSpPr>
        <p:spPr>
          <a:xfrm>
            <a:off x="2423160" y="3931920"/>
            <a:ext cx="2057400" cy="640080"/>
          </a:xfrm>
          <a:prstGeom prst="roundRect">
            <a:avLst>
              <a:gd name="adj" fmla="val 17143"/>
            </a:avLst>
          </a:prstGeom>
          <a:solidFill>
            <a:srgbClr val="F3EB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9" name="Google Shape;4359;p179"/>
          <p:cNvSpPr/>
          <p:nvPr/>
        </p:nvSpPr>
        <p:spPr>
          <a:xfrm>
            <a:off x="2560320" y="4050792"/>
            <a:ext cx="411480" cy="41148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0" name="Google Shape;4360;p179"/>
          <p:cNvSpPr/>
          <p:nvPr/>
        </p:nvSpPr>
        <p:spPr>
          <a:xfrm>
            <a:off x="2560320" y="40507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1" name="Google Shape;4361;p179"/>
          <p:cNvSpPr/>
          <p:nvPr/>
        </p:nvSpPr>
        <p:spPr>
          <a:xfrm>
            <a:off x="3063240" y="402336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950"/>
              <a:buFont typeface="Arial"/>
              <a:buNone/>
            </a:pPr>
            <a:r>
              <a:rPr lang="en" sz="95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Rahul Hipparkar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800"/>
              <a:buFont typeface="Arial"/>
              <a:buNone/>
            </a:pPr>
            <a:r>
              <a:rPr lang="en" sz="800">
                <a:solidFill>
                  <a:srgbClr val="5B544D"/>
                </a:solidFill>
              </a:rPr>
              <a:t>Classification &amp; DistilBERT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2" name="Google Shape;4362;p179"/>
          <p:cNvSpPr/>
          <p:nvPr/>
        </p:nvSpPr>
        <p:spPr>
          <a:xfrm>
            <a:off x="4572000" y="3931920"/>
            <a:ext cx="2057400" cy="640080"/>
          </a:xfrm>
          <a:prstGeom prst="roundRect">
            <a:avLst>
              <a:gd name="adj" fmla="val 17143"/>
            </a:avLst>
          </a:prstGeom>
          <a:solidFill>
            <a:srgbClr val="F3EB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3" name="Google Shape;4363;p179"/>
          <p:cNvSpPr/>
          <p:nvPr/>
        </p:nvSpPr>
        <p:spPr>
          <a:xfrm>
            <a:off x="4709160" y="4050792"/>
            <a:ext cx="411480" cy="411480"/>
          </a:xfrm>
          <a:prstGeom prst="ellipse">
            <a:avLst/>
          </a:prstGeom>
          <a:solidFill>
            <a:srgbClr val="6E5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4" name="Google Shape;4364;p179"/>
          <p:cNvSpPr/>
          <p:nvPr/>
        </p:nvSpPr>
        <p:spPr>
          <a:xfrm>
            <a:off x="4709160" y="40507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AJ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5" name="Google Shape;4365;p179"/>
          <p:cNvSpPr/>
          <p:nvPr/>
        </p:nvSpPr>
        <p:spPr>
          <a:xfrm>
            <a:off x="5212080" y="402336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950"/>
              <a:buFont typeface="Arial"/>
              <a:buNone/>
            </a:pPr>
            <a:r>
              <a:rPr lang="en" sz="95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Augustine Joy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800"/>
              <a:buFont typeface="Arial"/>
              <a:buNone/>
            </a:pPr>
            <a:r>
              <a:rPr lang="en" sz="800">
                <a:solidFill>
                  <a:srgbClr val="5B544D"/>
                </a:solidFill>
              </a:rPr>
              <a:t>Feature Engineering &amp; Apriori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6" name="Google Shape;4366;p179"/>
          <p:cNvSpPr/>
          <p:nvPr/>
        </p:nvSpPr>
        <p:spPr>
          <a:xfrm>
            <a:off x="6720840" y="3931920"/>
            <a:ext cx="2057400" cy="640080"/>
          </a:xfrm>
          <a:prstGeom prst="roundRect">
            <a:avLst>
              <a:gd name="adj" fmla="val 17143"/>
            </a:avLst>
          </a:prstGeom>
          <a:solidFill>
            <a:srgbClr val="F3EB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7" name="Google Shape;4367;p179"/>
          <p:cNvSpPr/>
          <p:nvPr/>
        </p:nvSpPr>
        <p:spPr>
          <a:xfrm>
            <a:off x="6858000" y="4050792"/>
            <a:ext cx="411480" cy="411480"/>
          </a:xfrm>
          <a:prstGeom prst="ellipse">
            <a:avLst/>
          </a:prstGeom>
          <a:solidFill>
            <a:srgbClr val="9B6A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8" name="Google Shape;4368;p179"/>
          <p:cNvSpPr/>
          <p:nvPr/>
        </p:nvSpPr>
        <p:spPr>
          <a:xfrm>
            <a:off x="6858000" y="40507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GV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9" name="Google Shape;4369;p179"/>
          <p:cNvSpPr/>
          <p:nvPr/>
        </p:nvSpPr>
        <p:spPr>
          <a:xfrm>
            <a:off x="7360920" y="402336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950"/>
              <a:buFont typeface="Arial"/>
              <a:buNone/>
            </a:pPr>
            <a:r>
              <a:rPr lang="en" sz="95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Glen Vadakkoott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800"/>
              <a:buFont typeface="Arial"/>
              <a:buNone/>
            </a:pPr>
            <a:r>
              <a:rPr lang="en" sz="800">
                <a:solidFill>
                  <a:srgbClr val="5B544D"/>
                </a:solidFill>
              </a:rPr>
              <a:t>Regression &amp; Pattern Analysis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0" name="Google Shape;4370;p179"/>
          <p:cNvSpPr/>
          <p:nvPr/>
        </p:nvSpPr>
        <p:spPr>
          <a:xfrm>
            <a:off x="274320" y="4663440"/>
            <a:ext cx="4251960" cy="201168"/>
          </a:xfrm>
          <a:prstGeom prst="roundRect">
            <a:avLst>
              <a:gd name="adj" fmla="val 50000"/>
            </a:avLst>
          </a:prstGeom>
          <a:solidFill>
            <a:srgbClr val="EAE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1" name="Google Shape;4371;p179"/>
          <p:cNvSpPr/>
          <p:nvPr/>
        </p:nvSpPr>
        <p:spPr>
          <a:xfrm>
            <a:off x="457200" y="4663440"/>
            <a:ext cx="4069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rPr>
              <a:t>GITHUB    </a:t>
            </a:r>
            <a:r>
              <a:rPr lang="en" sz="800" b="0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github.com/glenpaulson/toxicity-mining-nlp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2" name="Google Shape;4372;p179"/>
          <p:cNvSpPr/>
          <p:nvPr/>
        </p:nvSpPr>
        <p:spPr>
          <a:xfrm>
            <a:off x="4617720" y="4663440"/>
            <a:ext cx="4251960" cy="201168"/>
          </a:xfrm>
          <a:prstGeom prst="roundRect">
            <a:avLst>
              <a:gd name="adj" fmla="val 50000"/>
            </a:avLst>
          </a:prstGeom>
          <a:solidFill>
            <a:srgbClr val="EAE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3" name="Google Shape;4373;p179"/>
          <p:cNvSpPr/>
          <p:nvPr/>
        </p:nvSpPr>
        <p:spPr>
          <a:xfrm>
            <a:off x="4800600" y="4663440"/>
            <a:ext cx="4069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rPr>
              <a:t>WEBSITE    </a:t>
            </a:r>
            <a:r>
              <a:rPr lang="en" sz="800" b="0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glenpaulson.github.io/toxicity-mining-website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4" name="Google Shape;4374;p179"/>
          <p:cNvSpPr/>
          <p:nvPr/>
        </p:nvSpPr>
        <p:spPr>
          <a:xfrm>
            <a:off x="274320" y="4901184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CSCI 5502 Data Mining  |  Group 11  |  University of Colorado Boulder  |  Spring 2026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Shape 4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0" name="Google Shape;4380;p180"/>
          <p:cNvSpPr/>
          <p:nvPr/>
        </p:nvSpPr>
        <p:spPr>
          <a:xfrm>
            <a:off x="274320" y="16459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DF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1" name="Google Shape;4381;p180"/>
          <p:cNvSpPr/>
          <p:nvPr/>
        </p:nvSpPr>
        <p:spPr>
          <a:xfrm>
            <a:off x="274320" y="16459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113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3113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2" name="Google Shape;4382;p180"/>
          <p:cNvSpPr/>
          <p:nvPr/>
        </p:nvSpPr>
        <p:spPr>
          <a:xfrm>
            <a:off x="1188720" y="146304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Models &amp; Methodology — 7 Models Across 4 ML Categories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3" name="Google Shape;4383;p180"/>
          <p:cNvSpPr/>
          <p:nvPr/>
        </p:nvSpPr>
        <p:spPr>
          <a:xfrm>
            <a:off x="274320" y="47548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Jigsaw (1.8M) + TweetEval (9K)  |  58,954 modeling records  |  Group 11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4" name="Google Shape;4384;p180"/>
          <p:cNvCxnSpPr/>
          <p:nvPr/>
        </p:nvCxnSpPr>
        <p:spPr>
          <a:xfrm>
            <a:off x="274320" y="731520"/>
            <a:ext cx="8595360" cy="0"/>
          </a:xfrm>
          <a:prstGeom prst="straightConnector1">
            <a:avLst/>
          </a:prstGeom>
          <a:noFill/>
          <a:ln w="9525" cap="flat" cmpd="sng">
            <a:solidFill>
              <a:srgbClr val="D8C8B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85" name="Google Shape;4385;p180"/>
          <p:cNvSpPr/>
          <p:nvPr/>
        </p:nvSpPr>
        <p:spPr>
          <a:xfrm>
            <a:off x="274320" y="868680"/>
            <a:ext cx="3657600" cy="3017520"/>
          </a:xfrm>
          <a:prstGeom prst="roundRect">
            <a:avLst>
              <a:gd name="adj" fmla="val 4242"/>
            </a:avLst>
          </a:prstGeom>
          <a:solidFill>
            <a:srgbClr val="F3EBE0"/>
          </a:solidFill>
          <a:ln>
            <a:noFill/>
          </a:ln>
          <a:effectLst>
            <a:outerShdw blurRad="127000" dist="1905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6" name="Google Shape;4386;p180"/>
          <p:cNvSpPr/>
          <p:nvPr/>
        </p:nvSpPr>
        <p:spPr>
          <a:xfrm>
            <a:off x="457200" y="98755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rPr>
              <a:t>NLP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7" name="Google Shape;4387;p180"/>
          <p:cNvSpPr/>
          <p:nvPr/>
        </p:nvSpPr>
        <p:spPr>
          <a:xfrm>
            <a:off x="457200" y="1298448"/>
            <a:ext cx="256032" cy="256032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8" name="Google Shape;4388;p180"/>
          <p:cNvSpPr/>
          <p:nvPr/>
        </p:nvSpPr>
        <p:spPr>
          <a:xfrm>
            <a:off x="457200" y="12984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9" name="Google Shape;4389;p180"/>
          <p:cNvSpPr/>
          <p:nvPr/>
        </p:nvSpPr>
        <p:spPr>
          <a:xfrm>
            <a:off x="822960" y="128016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850"/>
              <a:buFont typeface="Arial"/>
              <a:buNone/>
            </a:pPr>
            <a:r>
              <a:rPr lang="en" sz="85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Contraction Expansion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50"/>
              <a:buFont typeface="Arial"/>
              <a:buNone/>
            </a:pPr>
            <a:r>
              <a:rPr lang="en" sz="750" b="0" i="1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("don't" → "do not")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0" name="Google Shape;4390;p180"/>
          <p:cNvSpPr/>
          <p:nvPr/>
        </p:nvSpPr>
        <p:spPr>
          <a:xfrm>
            <a:off x="457200" y="1664208"/>
            <a:ext cx="256032" cy="256032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1" name="Google Shape;4391;p180"/>
          <p:cNvSpPr/>
          <p:nvPr/>
        </p:nvSpPr>
        <p:spPr>
          <a:xfrm>
            <a:off x="457200" y="166420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2" name="Google Shape;4392;p180"/>
          <p:cNvSpPr/>
          <p:nvPr/>
        </p:nvSpPr>
        <p:spPr>
          <a:xfrm>
            <a:off x="822960" y="164592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850"/>
              <a:buFont typeface="Arial"/>
              <a:buNone/>
            </a:pPr>
            <a:r>
              <a:rPr lang="en" sz="85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Lowercasing + URL Normalization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50"/>
              <a:buFont typeface="Arial"/>
              <a:buNone/>
            </a:pPr>
            <a:r>
              <a:rPr lang="en" sz="750" b="0" i="1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@user, hashtag handling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3" name="Google Shape;4393;p180"/>
          <p:cNvSpPr/>
          <p:nvPr/>
        </p:nvSpPr>
        <p:spPr>
          <a:xfrm>
            <a:off x="457200" y="2029968"/>
            <a:ext cx="256032" cy="256032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4" name="Google Shape;4394;p180"/>
          <p:cNvSpPr/>
          <p:nvPr/>
        </p:nvSpPr>
        <p:spPr>
          <a:xfrm>
            <a:off x="457200" y="202996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5" name="Google Shape;4395;p180"/>
          <p:cNvSpPr/>
          <p:nvPr/>
        </p:nvSpPr>
        <p:spPr>
          <a:xfrm>
            <a:off x="822960" y="201168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850"/>
              <a:buFont typeface="Arial"/>
              <a:buNone/>
            </a:pPr>
            <a:r>
              <a:rPr lang="en" sz="85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Tokenization + Stopword Removal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50"/>
              <a:buFont typeface="Arial"/>
              <a:buNone/>
            </a:pPr>
            <a:r>
              <a:rPr lang="en" sz="750" b="0" i="1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NLTK english tokens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6" name="Google Shape;4396;p180"/>
          <p:cNvSpPr/>
          <p:nvPr/>
        </p:nvSpPr>
        <p:spPr>
          <a:xfrm>
            <a:off x="457200" y="2395728"/>
            <a:ext cx="256032" cy="256032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7" name="Google Shape;4397;p180"/>
          <p:cNvSpPr/>
          <p:nvPr/>
        </p:nvSpPr>
        <p:spPr>
          <a:xfrm>
            <a:off x="457200" y="239572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8" name="Google Shape;4398;p180"/>
          <p:cNvSpPr/>
          <p:nvPr/>
        </p:nvSpPr>
        <p:spPr>
          <a:xfrm>
            <a:off x="822960" y="237744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850"/>
              <a:buFont typeface="Arial"/>
              <a:buNone/>
            </a:pPr>
            <a:r>
              <a:rPr lang="en" sz="85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TF-IDF Vectorization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50"/>
              <a:buFont typeface="Arial"/>
              <a:buNone/>
            </a:pPr>
            <a:r>
              <a:rPr lang="en" sz="750" b="0" i="1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50K features, unigrams + bigrams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9" name="Google Shape;4399;p180"/>
          <p:cNvSpPr/>
          <p:nvPr/>
        </p:nvSpPr>
        <p:spPr>
          <a:xfrm>
            <a:off x="457200" y="2761488"/>
            <a:ext cx="256032" cy="256032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0" name="Google Shape;4400;p180"/>
          <p:cNvSpPr/>
          <p:nvPr/>
        </p:nvSpPr>
        <p:spPr>
          <a:xfrm>
            <a:off x="457200" y="276148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1" name="Google Shape;4401;p180"/>
          <p:cNvSpPr/>
          <p:nvPr/>
        </p:nvSpPr>
        <p:spPr>
          <a:xfrm>
            <a:off x="822960" y="274320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850"/>
              <a:buFont typeface="Arial"/>
              <a:buNone/>
            </a:pPr>
            <a:r>
              <a:rPr lang="en" sz="85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Truncated SVD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50"/>
              <a:buFont typeface="Arial"/>
              <a:buNone/>
            </a:pPr>
            <a:r>
              <a:rPr lang="en" sz="750" b="0" i="1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50,000 → 200–300 dims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2" name="Google Shape;4402;p180"/>
          <p:cNvSpPr/>
          <p:nvPr/>
        </p:nvSpPr>
        <p:spPr>
          <a:xfrm>
            <a:off x="457200" y="3127248"/>
            <a:ext cx="256032" cy="256032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3" name="Google Shape;4403;p180"/>
          <p:cNvSpPr/>
          <p:nvPr/>
        </p:nvSpPr>
        <p:spPr>
          <a:xfrm>
            <a:off x="457200" y="31272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4" name="Google Shape;4404;p180"/>
          <p:cNvSpPr/>
          <p:nvPr/>
        </p:nvSpPr>
        <p:spPr>
          <a:xfrm>
            <a:off x="822960" y="310896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850"/>
              <a:buFont typeface="Arial"/>
              <a:buNone/>
            </a:pPr>
            <a:r>
              <a:rPr lang="en" sz="85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StandardScaler Normalization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50"/>
              <a:buFont typeface="Arial"/>
              <a:buNone/>
            </a:pPr>
            <a:r>
              <a:rPr lang="en" sz="750" b="0" i="1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Zero-mean, unit-variance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5" name="Google Shape;4405;p180"/>
          <p:cNvSpPr/>
          <p:nvPr/>
        </p:nvSpPr>
        <p:spPr>
          <a:xfrm>
            <a:off x="457200" y="3493008"/>
            <a:ext cx="256032" cy="256032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6" name="Google Shape;4406;p180"/>
          <p:cNvSpPr/>
          <p:nvPr/>
        </p:nvSpPr>
        <p:spPr>
          <a:xfrm>
            <a:off x="457200" y="349300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7" name="Google Shape;4407;p180"/>
          <p:cNvSpPr/>
          <p:nvPr/>
        </p:nvSpPr>
        <p:spPr>
          <a:xfrm>
            <a:off x="822960" y="347472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850"/>
              <a:buFont typeface="Arial"/>
              <a:buNone/>
            </a:pPr>
            <a:r>
              <a:rPr lang="en" sz="85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DistilBERT Tokenizer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50"/>
              <a:buFont typeface="Arial"/>
              <a:buNone/>
            </a:pPr>
            <a:r>
              <a:rPr lang="en" sz="750" b="0" i="1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Raw text → WordPiece (max 128)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8" name="Google Shape;4408;p180"/>
          <p:cNvSpPr/>
          <p:nvPr/>
        </p:nvSpPr>
        <p:spPr>
          <a:xfrm>
            <a:off x="4114800" y="868680"/>
            <a:ext cx="4754880" cy="1463040"/>
          </a:xfrm>
          <a:prstGeom prst="roundRect">
            <a:avLst>
              <a:gd name="adj" fmla="val 8750"/>
            </a:avLst>
          </a:prstGeom>
          <a:solidFill>
            <a:srgbClr val="8B4513"/>
          </a:solidFill>
          <a:ln>
            <a:noFill/>
          </a:ln>
          <a:effectLst>
            <a:outerShdw blurRad="127000" dist="1905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9" name="Google Shape;4409;p180"/>
          <p:cNvSpPr/>
          <p:nvPr/>
        </p:nvSpPr>
        <p:spPr>
          <a:xfrm>
            <a:off x="4297680" y="960120"/>
            <a:ext cx="4389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FC2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FFDFC2"/>
                </a:solidFill>
                <a:latin typeface="Arial"/>
                <a:ea typeface="Arial"/>
                <a:cs typeface="Arial"/>
                <a:sym typeface="Arial"/>
              </a:rPr>
              <a:t>7 MODELS ACROSS 4 CATEGORIES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0" name="Google Shape;4410;p180"/>
          <p:cNvSpPr/>
          <p:nvPr/>
        </p:nvSpPr>
        <p:spPr>
          <a:xfrm>
            <a:off x="4297680" y="1197864"/>
            <a:ext cx="4389120" cy="246888"/>
          </a:xfrm>
          <a:prstGeom prst="roundRect">
            <a:avLst>
              <a:gd name="adj" fmla="val 29630"/>
            </a:avLst>
          </a:prstGeom>
          <a:solidFill>
            <a:srgbClr val="FFDF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1" name="Google Shape;4411;p180"/>
          <p:cNvSpPr/>
          <p:nvPr/>
        </p:nvSpPr>
        <p:spPr>
          <a:xfrm>
            <a:off x="4407408" y="119786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13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311300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2" name="Google Shape;4412;p180"/>
          <p:cNvSpPr/>
          <p:nvPr/>
        </p:nvSpPr>
        <p:spPr>
          <a:xfrm>
            <a:off x="5687568" y="1197864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1300"/>
              </a:buClr>
              <a:buSzPts val="850"/>
              <a:buFont typeface="Arial"/>
              <a:buNone/>
            </a:pPr>
            <a:r>
              <a:rPr lang="en" sz="850" b="0" i="0" u="none" strike="noStrike" cap="none">
                <a:solidFill>
                  <a:srgbClr val="311300"/>
                </a:solidFill>
                <a:latin typeface="Arial"/>
                <a:ea typeface="Arial"/>
                <a:cs typeface="Arial"/>
                <a:sym typeface="Arial"/>
              </a:rPr>
              <a:t>Naive Bayes  |  LightGBM  |  DistilBERT  |  Stacking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3" name="Google Shape;4413;p180"/>
          <p:cNvSpPr/>
          <p:nvPr/>
        </p:nvSpPr>
        <p:spPr>
          <a:xfrm>
            <a:off x="4297680" y="1472184"/>
            <a:ext cx="4389120" cy="246888"/>
          </a:xfrm>
          <a:prstGeom prst="roundRect">
            <a:avLst>
              <a:gd name="adj" fmla="val 29630"/>
            </a:avLst>
          </a:prstGeom>
          <a:solidFill>
            <a:srgbClr val="E5DE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4" name="Google Shape;4414;p180"/>
          <p:cNvSpPr/>
          <p:nvPr/>
        </p:nvSpPr>
        <p:spPr>
          <a:xfrm>
            <a:off x="4407408" y="147218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1C2A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211C2A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5" name="Google Shape;4415;p180"/>
          <p:cNvSpPr/>
          <p:nvPr/>
        </p:nvSpPr>
        <p:spPr>
          <a:xfrm>
            <a:off x="5687568" y="1472184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1C2A"/>
              </a:buClr>
              <a:buSzPts val="850"/>
              <a:buFont typeface="Arial"/>
              <a:buNone/>
            </a:pPr>
            <a:r>
              <a:rPr lang="en" sz="850" b="0" i="0" u="none" strike="noStrike" cap="none">
                <a:solidFill>
                  <a:srgbClr val="211C2A"/>
                </a:solidFill>
                <a:latin typeface="Arial"/>
                <a:ea typeface="Arial"/>
                <a:cs typeface="Arial"/>
                <a:sym typeface="Arial"/>
              </a:rPr>
              <a:t>Logistic Regression  (also meta-learner)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6" name="Google Shape;4416;p180"/>
          <p:cNvSpPr/>
          <p:nvPr/>
        </p:nvSpPr>
        <p:spPr>
          <a:xfrm>
            <a:off x="4297680" y="1746504"/>
            <a:ext cx="4389120" cy="246888"/>
          </a:xfrm>
          <a:prstGeom prst="roundRect">
            <a:avLst>
              <a:gd name="adj" fmla="val 29630"/>
            </a:avLst>
          </a:prstGeom>
          <a:solidFill>
            <a:srgbClr val="DDE5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7" name="Google Shape;4417;p180"/>
          <p:cNvSpPr/>
          <p:nvPr/>
        </p:nvSpPr>
        <p:spPr>
          <a:xfrm>
            <a:off x="4407408" y="174650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419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1E2419"/>
                </a:solidFill>
                <a:latin typeface="Arial"/>
                <a:ea typeface="Arial"/>
                <a:cs typeface="Arial"/>
                <a:sym typeface="Arial"/>
              </a:rPr>
              <a:t>CLUSTERING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8" name="Google Shape;4418;p180"/>
          <p:cNvSpPr/>
          <p:nvPr/>
        </p:nvSpPr>
        <p:spPr>
          <a:xfrm>
            <a:off x="5687568" y="1746504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419"/>
              </a:buClr>
              <a:buSzPts val="850"/>
              <a:buFont typeface="Arial"/>
              <a:buNone/>
            </a:pPr>
            <a:r>
              <a:rPr lang="en" sz="850" b="0" i="0" u="none" strike="noStrike" cap="none">
                <a:solidFill>
                  <a:srgbClr val="1E2419"/>
                </a:solidFill>
                <a:latin typeface="Arial"/>
                <a:ea typeface="Arial"/>
                <a:cs typeface="Arial"/>
                <a:sym typeface="Arial"/>
              </a:rPr>
              <a:t>KMeans  (k=2, Silhouette = 0.0999)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9" name="Google Shape;4419;p180"/>
          <p:cNvSpPr/>
          <p:nvPr/>
        </p:nvSpPr>
        <p:spPr>
          <a:xfrm>
            <a:off x="4297680" y="2020824"/>
            <a:ext cx="4389120" cy="246888"/>
          </a:xfrm>
          <a:prstGeom prst="roundRect">
            <a:avLst>
              <a:gd name="adj" fmla="val 29630"/>
            </a:avLst>
          </a:prstGeom>
          <a:solidFill>
            <a:srgbClr val="F5DD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0" name="Google Shape;4420;p180"/>
          <p:cNvSpPr/>
          <p:nvPr/>
        </p:nvSpPr>
        <p:spPr>
          <a:xfrm>
            <a:off x="4407408" y="202082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1818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2E1818"/>
                </a:solidFill>
                <a:latin typeface="Arial"/>
                <a:ea typeface="Arial"/>
                <a:cs typeface="Arial"/>
                <a:sym typeface="Arial"/>
              </a:rPr>
              <a:t>PATTERN MINING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1" name="Google Shape;4421;p180"/>
          <p:cNvSpPr/>
          <p:nvPr/>
        </p:nvSpPr>
        <p:spPr>
          <a:xfrm>
            <a:off x="5687568" y="2020824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1818"/>
              </a:buClr>
              <a:buSzPts val="850"/>
              <a:buFont typeface="Arial"/>
              <a:buNone/>
            </a:pPr>
            <a:r>
              <a:rPr lang="en" sz="850" b="0" i="0" u="none" strike="noStrike" cap="none">
                <a:solidFill>
                  <a:srgbClr val="2E1818"/>
                </a:solidFill>
                <a:latin typeface="Arial"/>
                <a:ea typeface="Arial"/>
                <a:cs typeface="Arial"/>
                <a:sym typeface="Arial"/>
              </a:rPr>
              <a:t>Apriori  (min_support=0.01, min_conf=0.2)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2" name="Google Shape;4422;p180"/>
          <p:cNvSpPr/>
          <p:nvPr/>
        </p:nvSpPr>
        <p:spPr>
          <a:xfrm>
            <a:off x="4114800" y="2423160"/>
            <a:ext cx="4754880" cy="457200"/>
          </a:xfrm>
          <a:prstGeom prst="roundRect">
            <a:avLst>
              <a:gd name="adj" fmla="val 20000"/>
            </a:avLst>
          </a:prstGeom>
          <a:solidFill>
            <a:srgbClr val="EAE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3" name="Google Shape;4423;p180"/>
          <p:cNvSpPr/>
          <p:nvPr/>
        </p:nvSpPr>
        <p:spPr>
          <a:xfrm>
            <a:off x="4297680" y="242316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rPr>
              <a:t>HYPERPARAMETER TUNING:    </a:t>
            </a:r>
            <a:r>
              <a:rPr lang="en" sz="80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GridSearchCV</a:t>
            </a:r>
            <a:r>
              <a:rPr lang="en" sz="8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 for Naive Bayes &amp; LR  |  </a:t>
            </a:r>
            <a:r>
              <a:rPr lang="en" sz="80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Optuna</a:t>
            </a:r>
            <a:r>
              <a:rPr lang="en" sz="8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 for LightGBM (50), DistilBERT (5), Stacking (30/model)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4" name="Google Shape;4424;p180"/>
          <p:cNvSpPr/>
          <p:nvPr/>
        </p:nvSpPr>
        <p:spPr>
          <a:xfrm>
            <a:off x="4114800" y="2990088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rPr>
              <a:t>DATA AT A GLANCE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5" name="Google Shape;4425;p180"/>
          <p:cNvSpPr/>
          <p:nvPr/>
        </p:nvSpPr>
        <p:spPr>
          <a:xfrm>
            <a:off x="4114800" y="3200400"/>
            <a:ext cx="1524000" cy="640080"/>
          </a:xfrm>
          <a:prstGeom prst="roundRect">
            <a:avLst>
              <a:gd name="adj" fmla="val 14286"/>
            </a:avLst>
          </a:prstGeom>
          <a:solidFill>
            <a:srgbClr val="F3EB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6" name="Google Shape;4426;p180"/>
          <p:cNvSpPr/>
          <p:nvPr/>
        </p:nvSpPr>
        <p:spPr>
          <a:xfrm>
            <a:off x="4224528" y="3246120"/>
            <a:ext cx="130454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rPr>
              <a:t>Jigsaw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1.77M rows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8.3% toxic | long forum posts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7" name="Google Shape;4427;p180"/>
          <p:cNvSpPr/>
          <p:nvPr/>
        </p:nvSpPr>
        <p:spPr>
          <a:xfrm>
            <a:off x="5730240" y="3200400"/>
            <a:ext cx="1524000" cy="640080"/>
          </a:xfrm>
          <a:prstGeom prst="roundRect">
            <a:avLst>
              <a:gd name="adj" fmla="val 14286"/>
            </a:avLst>
          </a:prstGeom>
          <a:solidFill>
            <a:srgbClr val="F3EB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8" name="Google Shape;4428;p180"/>
          <p:cNvSpPr/>
          <p:nvPr/>
        </p:nvSpPr>
        <p:spPr>
          <a:xfrm>
            <a:off x="5839968" y="3246120"/>
            <a:ext cx="130454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rPr>
              <a:t>TweetEval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8,954 rows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Balanced | short tweets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9" name="Google Shape;4429;p180"/>
          <p:cNvSpPr/>
          <p:nvPr/>
        </p:nvSpPr>
        <p:spPr>
          <a:xfrm>
            <a:off x="7345680" y="3200400"/>
            <a:ext cx="1524000" cy="640080"/>
          </a:xfrm>
          <a:prstGeom prst="roundRect">
            <a:avLst>
              <a:gd name="adj" fmla="val 14286"/>
            </a:avLst>
          </a:prstGeom>
          <a:solidFill>
            <a:srgbClr val="F3EB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0" name="Google Shape;4430;p180"/>
          <p:cNvSpPr/>
          <p:nvPr/>
        </p:nvSpPr>
        <p:spPr>
          <a:xfrm>
            <a:off x="7455408" y="3246120"/>
            <a:ext cx="130454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rPr>
              <a:t>Combined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58,954 rows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51.2% / 48.8% split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1" name="Google Shape;4431;p180"/>
          <p:cNvSpPr/>
          <p:nvPr/>
        </p:nvSpPr>
        <p:spPr>
          <a:xfrm>
            <a:off x="274320" y="402336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1210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2" name="Google Shape;4432;p180"/>
          <p:cNvSpPr/>
          <p:nvPr/>
        </p:nvSpPr>
        <p:spPr>
          <a:xfrm>
            <a:off x="457200" y="4142232"/>
            <a:ext cx="2377440" cy="201168"/>
          </a:xfrm>
          <a:prstGeom prst="roundRect">
            <a:avLst>
              <a:gd name="adj" fmla="val 50000"/>
            </a:avLst>
          </a:prstGeom>
          <a:solidFill>
            <a:srgbClr val="4D2A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3" name="Google Shape;4433;p180"/>
          <p:cNvSpPr/>
          <p:nvPr/>
        </p:nvSpPr>
        <p:spPr>
          <a:xfrm>
            <a:off x="457200" y="414223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B59A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FFB59A"/>
                </a:solidFill>
                <a:latin typeface="Arial"/>
                <a:ea typeface="Arial"/>
                <a:cs typeface="Arial"/>
                <a:sym typeface="Arial"/>
              </a:rPr>
              <a:t>DISTILBERT  |  TRAINER (Optuna)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4" name="Google Shape;4434;p180"/>
          <p:cNvSpPr/>
          <p:nvPr/>
        </p:nvSpPr>
        <p:spPr>
          <a:xfrm>
            <a:off x="502920" y="4407408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E0D5"/>
              </a:buClr>
              <a:buSzPts val="800"/>
              <a:buFont typeface="Courier New"/>
              <a:buNone/>
            </a:pPr>
            <a:r>
              <a:rPr lang="en" sz="800" b="0" i="0" u="none" strike="noStrike" cap="none">
                <a:solidFill>
                  <a:srgbClr val="EFE0D5"/>
                </a:solidFill>
                <a:latin typeface="Courier New"/>
                <a:ea typeface="Courier New"/>
                <a:cs typeface="Courier New"/>
                <a:sym typeface="Courier New"/>
              </a:rPr>
              <a:t>args = TrainingArguments(learning_rate=trial.suggest_float("lr", 1e-5, 5e-5, log=True), batch_size=batch_size, ...)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B8A8"/>
              </a:buClr>
              <a:buSzPts val="800"/>
              <a:buFont typeface="Courier New"/>
              <a:buNone/>
            </a:pPr>
            <a:r>
              <a:rPr lang="en" sz="800" b="0" i="0" u="none" strike="noStrike" cap="none">
                <a:solidFill>
                  <a:srgbClr val="C8B8A8"/>
                </a:solidFill>
                <a:latin typeface="Courier New"/>
                <a:ea typeface="Courier New"/>
                <a:cs typeface="Courier New"/>
                <a:sym typeface="Courier New"/>
              </a:rPr>
              <a:t>trainer = Trainer(model=model, args=args, train_dataset=train_tok, eval_dataset=val_tok, callbacks=[EarlyStoppingCallback(...)])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5" name="Google Shape;4435;p180"/>
          <p:cNvSpPr/>
          <p:nvPr/>
        </p:nvSpPr>
        <p:spPr>
          <a:xfrm>
            <a:off x="274320" y="4901184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CSCI 5502 Data Mining  |  Group 11  |  University of Colorado Boulder  |  Spring 2026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Shape 4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1" name="Google Shape;4441;p181"/>
          <p:cNvSpPr/>
          <p:nvPr/>
        </p:nvSpPr>
        <p:spPr>
          <a:xfrm>
            <a:off x="274320" y="16459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DF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2" name="Google Shape;4442;p181"/>
          <p:cNvSpPr/>
          <p:nvPr/>
        </p:nvSpPr>
        <p:spPr>
          <a:xfrm>
            <a:off x="274320" y="16459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113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3113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3" name="Google Shape;4443;p181"/>
          <p:cNvSpPr/>
          <p:nvPr/>
        </p:nvSpPr>
        <p:spPr>
          <a:xfrm>
            <a:off x="1188720" y="146304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Performance Results &amp; Key Conclusions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4" name="Google Shape;4444;p181"/>
          <p:cNvSpPr/>
          <p:nvPr/>
        </p:nvSpPr>
        <p:spPr>
          <a:xfrm>
            <a:off x="274320" y="47548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Jigsaw (1.8M) + TweetEval (9K)  |  58,954 modeling records  |  Group 11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45" name="Google Shape;4445;p181"/>
          <p:cNvCxnSpPr/>
          <p:nvPr/>
        </p:nvCxnSpPr>
        <p:spPr>
          <a:xfrm>
            <a:off x="274320" y="731520"/>
            <a:ext cx="8595360" cy="0"/>
          </a:xfrm>
          <a:prstGeom prst="straightConnector1">
            <a:avLst/>
          </a:prstGeom>
          <a:noFill/>
          <a:ln w="9525" cap="flat" cmpd="sng">
            <a:solidFill>
              <a:srgbClr val="D8C8B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46" name="Google Shape;4446;p181"/>
          <p:cNvSpPr/>
          <p:nvPr/>
        </p:nvSpPr>
        <p:spPr>
          <a:xfrm>
            <a:off x="274320" y="868680"/>
            <a:ext cx="5074920" cy="2331720"/>
          </a:xfrm>
          <a:prstGeom prst="roundRect">
            <a:avLst>
              <a:gd name="adj" fmla="val 5490"/>
            </a:avLst>
          </a:prstGeom>
          <a:solidFill>
            <a:srgbClr val="F3EBE0"/>
          </a:solidFill>
          <a:ln>
            <a:noFill/>
          </a:ln>
          <a:effectLst>
            <a:outerShdw blurRad="127000" dist="1905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7" name="Google Shape;4447;p181"/>
          <p:cNvSpPr/>
          <p:nvPr/>
        </p:nvSpPr>
        <p:spPr>
          <a:xfrm>
            <a:off x="457200" y="987552"/>
            <a:ext cx="4709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rPr>
              <a:t>MODEL PERFORMANCE — TEST SET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48" name="Google Shape;4448;p181"/>
          <p:cNvGraphicFramePr/>
          <p:nvPr/>
        </p:nvGraphicFramePr>
        <p:xfrm>
          <a:off x="457200" y="1252728"/>
          <a:ext cx="4709150" cy="1755600"/>
        </p:xfrm>
        <a:graphic>
          <a:graphicData uri="http://schemas.openxmlformats.org/drawingml/2006/table">
            <a:tbl>
              <a:tblPr>
                <a:noFill/>
                <a:tableStyleId>{B98FFCFC-5663-401B-B572-FDEF68928174}</a:tableStyleId>
              </a:tblPr>
              <a:tblGrid>
                <a:gridCol w="214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4513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8B45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0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4513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8B45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0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4513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8B45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0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4513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rgbClr val="8B45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ROC-AUC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4513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>
                          <a:solidFill>
                            <a:srgbClr val="8B45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DistilBERT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4513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>
                          <a:solidFill>
                            <a:srgbClr val="8B45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87.12%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4513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>
                          <a:solidFill>
                            <a:srgbClr val="8B45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87.39%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4513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>
                          <a:solidFill>
                            <a:srgbClr val="8B45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87.18%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Logistic Regression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83.90%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82.71%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91.49%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Stacking Classifier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82.29%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81.54%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82.24%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Naive Bayes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77.91%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77.61%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77.91%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LightGBM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76.99%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75.50%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1A18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rgbClr val="201A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76.90%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50800" marB="50800" anchor="ctr">
                    <a:lnL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C8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49" name="Google Shape;4449;p181"/>
          <p:cNvSpPr/>
          <p:nvPr/>
        </p:nvSpPr>
        <p:spPr>
          <a:xfrm>
            <a:off x="5486400" y="868680"/>
            <a:ext cx="3383280" cy="2331720"/>
          </a:xfrm>
          <a:prstGeom prst="roundRect">
            <a:avLst>
              <a:gd name="adj" fmla="val 5490"/>
            </a:avLst>
          </a:prstGeom>
          <a:solidFill>
            <a:srgbClr val="F3EBE0"/>
          </a:solidFill>
          <a:ln>
            <a:noFill/>
          </a:ln>
          <a:effectLst>
            <a:outerShdw blurRad="127000" dist="1905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0" name="Google Shape;4450;p181"/>
          <p:cNvSpPr/>
          <p:nvPr/>
        </p:nvSpPr>
        <p:spPr>
          <a:xfrm>
            <a:off x="5669280" y="98755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rPr>
              <a:t>DISTILBERT  |  CONFUSION MATRIX (TEST SET)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1" name="Google Shape;4451;p181" descr="[object Object]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6925" y="1234450"/>
            <a:ext cx="2675825" cy="1874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2" name="Google Shape;4452;p181"/>
          <p:cNvSpPr/>
          <p:nvPr/>
        </p:nvSpPr>
        <p:spPr>
          <a:xfrm>
            <a:off x="274320" y="3310128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rPr>
              <a:t>KEY FINDINGS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3" name="Google Shape;4453;p181"/>
          <p:cNvSpPr/>
          <p:nvPr/>
        </p:nvSpPr>
        <p:spPr>
          <a:xfrm>
            <a:off x="274320" y="3520440"/>
            <a:ext cx="2093976" cy="868680"/>
          </a:xfrm>
          <a:prstGeom prst="roundRect">
            <a:avLst>
              <a:gd name="adj" fmla="val 12632"/>
            </a:avLst>
          </a:prstGeom>
          <a:solidFill>
            <a:srgbClr val="F3EB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4" name="Google Shape;4454;p181"/>
          <p:cNvSpPr/>
          <p:nvPr/>
        </p:nvSpPr>
        <p:spPr>
          <a:xfrm>
            <a:off x="411480" y="3639312"/>
            <a:ext cx="310896" cy="201168"/>
          </a:xfrm>
          <a:prstGeom prst="roundRect">
            <a:avLst>
              <a:gd name="adj" fmla="val 50000"/>
            </a:avLst>
          </a:prstGeom>
          <a:solidFill>
            <a:srgbClr val="8B4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5" name="Google Shape;4455;p181"/>
          <p:cNvSpPr/>
          <p:nvPr/>
        </p:nvSpPr>
        <p:spPr>
          <a:xfrm>
            <a:off x="411480" y="3639312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6" name="Google Shape;4456;p181"/>
          <p:cNvSpPr/>
          <p:nvPr/>
        </p:nvSpPr>
        <p:spPr>
          <a:xfrm>
            <a:off x="777240" y="3611880"/>
            <a:ext cx="14538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950"/>
              <a:buFont typeface="Arial"/>
              <a:buNone/>
            </a:pPr>
            <a:r>
              <a:rPr lang="en" sz="95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DistilBERT Dominates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7" name="Google Shape;4457;p181"/>
          <p:cNvSpPr/>
          <p:nvPr/>
        </p:nvSpPr>
        <p:spPr>
          <a:xfrm>
            <a:off x="411480" y="3904488"/>
            <a:ext cx="181965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50"/>
              <a:buFont typeface="Arial"/>
              <a:buNone/>
            </a:pPr>
            <a:r>
              <a:rPr lang="en" sz="75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Context-aware transformer beat all traditional models by 5+ accuracy points.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8" name="Google Shape;4458;p181"/>
          <p:cNvSpPr/>
          <p:nvPr/>
        </p:nvSpPr>
        <p:spPr>
          <a:xfrm>
            <a:off x="2441448" y="3520440"/>
            <a:ext cx="2093976" cy="868680"/>
          </a:xfrm>
          <a:prstGeom prst="roundRect">
            <a:avLst>
              <a:gd name="adj" fmla="val 12632"/>
            </a:avLst>
          </a:prstGeom>
          <a:solidFill>
            <a:srgbClr val="F3EB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9" name="Google Shape;4459;p181"/>
          <p:cNvSpPr/>
          <p:nvPr/>
        </p:nvSpPr>
        <p:spPr>
          <a:xfrm>
            <a:off x="2578608" y="3639312"/>
            <a:ext cx="310896" cy="201168"/>
          </a:xfrm>
          <a:prstGeom prst="roundRect">
            <a:avLst>
              <a:gd name="adj" fmla="val 50000"/>
            </a:avLst>
          </a:prstGeom>
          <a:solidFill>
            <a:srgbClr val="8B4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0" name="Google Shape;4460;p181"/>
          <p:cNvSpPr/>
          <p:nvPr/>
        </p:nvSpPr>
        <p:spPr>
          <a:xfrm>
            <a:off x="2578608" y="3639312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1" name="Google Shape;4461;p181"/>
          <p:cNvSpPr/>
          <p:nvPr/>
        </p:nvSpPr>
        <p:spPr>
          <a:xfrm>
            <a:off x="2944368" y="3611880"/>
            <a:ext cx="14538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950"/>
              <a:buFont typeface="Arial"/>
              <a:buNone/>
            </a:pPr>
            <a:r>
              <a:rPr lang="en" sz="95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Stacking Adds Value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2" name="Google Shape;4462;p181"/>
          <p:cNvSpPr/>
          <p:nvPr/>
        </p:nvSpPr>
        <p:spPr>
          <a:xfrm>
            <a:off x="2578608" y="3904488"/>
            <a:ext cx="181965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50"/>
              <a:buFont typeface="Arial"/>
              <a:buNone/>
            </a:pPr>
            <a:r>
              <a:rPr lang="en" sz="75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LR + NB + LightGBM ensemble achieved ROC-AUC 0.898 — beats individuals.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3" name="Google Shape;4463;p181"/>
          <p:cNvSpPr/>
          <p:nvPr/>
        </p:nvSpPr>
        <p:spPr>
          <a:xfrm>
            <a:off x="4608576" y="3520440"/>
            <a:ext cx="2093976" cy="868680"/>
          </a:xfrm>
          <a:prstGeom prst="roundRect">
            <a:avLst>
              <a:gd name="adj" fmla="val 12632"/>
            </a:avLst>
          </a:prstGeom>
          <a:solidFill>
            <a:srgbClr val="F3EB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4" name="Google Shape;4464;p181"/>
          <p:cNvSpPr/>
          <p:nvPr/>
        </p:nvSpPr>
        <p:spPr>
          <a:xfrm>
            <a:off x="4745736" y="3639312"/>
            <a:ext cx="310896" cy="201168"/>
          </a:xfrm>
          <a:prstGeom prst="roundRect">
            <a:avLst>
              <a:gd name="adj" fmla="val 50000"/>
            </a:avLst>
          </a:prstGeom>
          <a:solidFill>
            <a:srgbClr val="8B4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5" name="Google Shape;4465;p181"/>
          <p:cNvSpPr/>
          <p:nvPr/>
        </p:nvSpPr>
        <p:spPr>
          <a:xfrm>
            <a:off x="4745736" y="3639312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6" name="Google Shape;4466;p181"/>
          <p:cNvSpPr/>
          <p:nvPr/>
        </p:nvSpPr>
        <p:spPr>
          <a:xfrm>
            <a:off x="5111496" y="3611880"/>
            <a:ext cx="14538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950"/>
              <a:buFont typeface="Arial"/>
              <a:buNone/>
            </a:pPr>
            <a:r>
              <a:rPr lang="en" sz="95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Apriori Reveals Patterns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7" name="Google Shape;4467;p181"/>
          <p:cNvSpPr/>
          <p:nvPr/>
        </p:nvSpPr>
        <p:spPr>
          <a:xfrm>
            <a:off x="4745736" y="3904488"/>
            <a:ext cx="181965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50"/>
              <a:buFont typeface="Arial"/>
              <a:buNone/>
            </a:pPr>
            <a:r>
              <a:rPr lang="en" sz="75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494 toxic vs 454 non-toxic itemsets. Top: {black}→{white}, lift 6.51.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8" name="Google Shape;4468;p181"/>
          <p:cNvSpPr/>
          <p:nvPr/>
        </p:nvSpPr>
        <p:spPr>
          <a:xfrm>
            <a:off x="6775704" y="3520440"/>
            <a:ext cx="2093976" cy="868680"/>
          </a:xfrm>
          <a:prstGeom prst="roundRect">
            <a:avLst>
              <a:gd name="adj" fmla="val 12632"/>
            </a:avLst>
          </a:prstGeom>
          <a:solidFill>
            <a:srgbClr val="F3EB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9" name="Google Shape;4469;p181"/>
          <p:cNvSpPr/>
          <p:nvPr/>
        </p:nvSpPr>
        <p:spPr>
          <a:xfrm>
            <a:off x="6912864" y="3639312"/>
            <a:ext cx="310896" cy="201168"/>
          </a:xfrm>
          <a:prstGeom prst="roundRect">
            <a:avLst>
              <a:gd name="adj" fmla="val 50000"/>
            </a:avLst>
          </a:prstGeom>
          <a:solidFill>
            <a:srgbClr val="8B4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0" name="Google Shape;4470;p181"/>
          <p:cNvSpPr/>
          <p:nvPr/>
        </p:nvSpPr>
        <p:spPr>
          <a:xfrm>
            <a:off x="6912864" y="3639312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1" name="Google Shape;4471;p181"/>
          <p:cNvSpPr/>
          <p:nvPr/>
        </p:nvSpPr>
        <p:spPr>
          <a:xfrm>
            <a:off x="7278624" y="3611880"/>
            <a:ext cx="14538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1A18"/>
              </a:buClr>
              <a:buSzPts val="950"/>
              <a:buFont typeface="Arial"/>
              <a:buNone/>
            </a:pPr>
            <a:r>
              <a:rPr lang="en" sz="950" b="1" i="0" u="none" strike="noStrike" cap="none">
                <a:solidFill>
                  <a:srgbClr val="201A18"/>
                </a:solidFill>
                <a:latin typeface="Arial"/>
                <a:ea typeface="Arial"/>
                <a:cs typeface="Arial"/>
                <a:sym typeface="Arial"/>
              </a:rPr>
              <a:t>KMeans Validates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2" name="Google Shape;4472;p181"/>
          <p:cNvSpPr/>
          <p:nvPr/>
        </p:nvSpPr>
        <p:spPr>
          <a:xfrm>
            <a:off x="6912864" y="3904488"/>
            <a:ext cx="181965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50"/>
              <a:buFont typeface="Arial"/>
              <a:buNone/>
            </a:pPr>
            <a:r>
              <a:rPr lang="en" sz="75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k=2 split (93.5%/6.5%) mirrors class distribution. Confirms binary structure.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3" name="Google Shape;4473;p181"/>
          <p:cNvSpPr/>
          <p:nvPr/>
        </p:nvSpPr>
        <p:spPr>
          <a:xfrm>
            <a:off x="274320" y="4498848"/>
            <a:ext cx="2773680" cy="329184"/>
          </a:xfrm>
          <a:prstGeom prst="roundRect">
            <a:avLst>
              <a:gd name="adj" fmla="val 27778"/>
            </a:avLst>
          </a:prstGeom>
          <a:solidFill>
            <a:srgbClr val="DDE5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4" name="Google Shape;4474;p181"/>
          <p:cNvSpPr/>
          <p:nvPr/>
        </p:nvSpPr>
        <p:spPr>
          <a:xfrm>
            <a:off x="411480" y="4498848"/>
            <a:ext cx="2499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7553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5B7553"/>
                </a:solidFill>
                <a:latin typeface="Arial"/>
                <a:ea typeface="Arial"/>
                <a:cs typeface="Arial"/>
                <a:sym typeface="Arial"/>
              </a:rPr>
              <a:t>✓   </a:t>
            </a:r>
            <a:r>
              <a:rPr lang="en" sz="750" b="0" i="0" u="none" strike="noStrike" cap="none">
                <a:solidFill>
                  <a:srgbClr val="1E2419"/>
                </a:solidFill>
                <a:latin typeface="Arial"/>
                <a:ea typeface="Arial"/>
                <a:cs typeface="Arial"/>
                <a:sym typeface="Arial"/>
              </a:rPr>
              <a:t>DistilBERT (87.12% / 87.39% F1) is the recommended production model.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5" name="Google Shape;4475;p181"/>
          <p:cNvSpPr/>
          <p:nvPr/>
        </p:nvSpPr>
        <p:spPr>
          <a:xfrm>
            <a:off x="3185160" y="4498848"/>
            <a:ext cx="2773680" cy="329184"/>
          </a:xfrm>
          <a:prstGeom prst="roundRect">
            <a:avLst>
              <a:gd name="adj" fmla="val 27778"/>
            </a:avLst>
          </a:prstGeom>
          <a:solidFill>
            <a:srgbClr val="DDE5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6" name="Google Shape;4476;p181"/>
          <p:cNvSpPr/>
          <p:nvPr/>
        </p:nvSpPr>
        <p:spPr>
          <a:xfrm>
            <a:off x="3322320" y="4498848"/>
            <a:ext cx="2499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7553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5B7553"/>
                </a:solidFill>
                <a:latin typeface="Arial"/>
                <a:ea typeface="Arial"/>
                <a:cs typeface="Arial"/>
                <a:sym typeface="Arial"/>
              </a:rPr>
              <a:t>✓   </a:t>
            </a:r>
            <a:r>
              <a:rPr lang="en" sz="750" b="0" i="0" u="none" strike="noStrike" cap="none">
                <a:solidFill>
                  <a:srgbClr val="1E2419"/>
                </a:solidFill>
                <a:latin typeface="Arial"/>
                <a:ea typeface="Arial"/>
                <a:cs typeface="Arial"/>
                <a:sym typeface="Arial"/>
              </a:rPr>
              <a:t>Cross-platform domain gap (2.6%) — fine-tuning is the next step.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7" name="Google Shape;4477;p181"/>
          <p:cNvSpPr/>
          <p:nvPr/>
        </p:nvSpPr>
        <p:spPr>
          <a:xfrm>
            <a:off x="6096000" y="4498848"/>
            <a:ext cx="2773680" cy="329184"/>
          </a:xfrm>
          <a:prstGeom prst="roundRect">
            <a:avLst>
              <a:gd name="adj" fmla="val 27778"/>
            </a:avLst>
          </a:prstGeom>
          <a:solidFill>
            <a:srgbClr val="DDE5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8" name="Google Shape;4478;p181"/>
          <p:cNvSpPr/>
          <p:nvPr/>
        </p:nvSpPr>
        <p:spPr>
          <a:xfrm>
            <a:off x="6233160" y="4498848"/>
            <a:ext cx="2499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7553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5B7553"/>
                </a:solidFill>
                <a:latin typeface="Arial"/>
                <a:ea typeface="Arial"/>
                <a:cs typeface="Arial"/>
                <a:sym typeface="Arial"/>
              </a:rPr>
              <a:t>✓   </a:t>
            </a:r>
            <a:r>
              <a:rPr lang="en" sz="750" b="0" i="0" u="none" strike="noStrike" cap="none">
                <a:solidFill>
                  <a:srgbClr val="1E2419"/>
                </a:solidFill>
                <a:latin typeface="Arial"/>
                <a:ea typeface="Arial"/>
                <a:cs typeface="Arial"/>
                <a:sym typeface="Arial"/>
              </a:rPr>
              <a:t>Apriori + classification together provide detection AND interpretability.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9" name="Google Shape;4479;p181"/>
          <p:cNvSpPr/>
          <p:nvPr/>
        </p:nvSpPr>
        <p:spPr>
          <a:xfrm>
            <a:off x="274320" y="4901184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544D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rgbClr val="5B544D"/>
                </a:solidFill>
                <a:latin typeface="Arial"/>
                <a:ea typeface="Arial"/>
                <a:cs typeface="Arial"/>
                <a:sym typeface="Arial"/>
              </a:rPr>
              <a:t>CSCI 5502 Data Mining  |  Group 11  |  University of Colorado Boulder  |  Spring 2026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</Words>
  <Application>Microsoft Macintosh PowerPoint</Application>
  <PresentationFormat>On-screen Show (16:9)</PresentationFormat>
  <Paragraphs>138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Courier New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Augustine Joy</cp:lastModifiedBy>
  <cp:revision>1</cp:revision>
  <dcterms:modified xsi:type="dcterms:W3CDTF">2026-04-21T05:01:17Z</dcterms:modified>
</cp:coreProperties>
</file>