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DFC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1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88720" y="1463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Hate Speech and Toxicity Mining Using NLP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(1.8M) + TweetEval (9K)  |  58,954 modeling records  |  Group 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731520"/>
            <a:ext cx="8595360" cy="0"/>
          </a:xfrm>
          <a:prstGeom prst="line">
            <a:avLst/>
          </a:prstGeom>
          <a:noFill/>
          <a:ln w="6350">
            <a:solidFill>
              <a:srgbClr val="D8C8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68680"/>
            <a:ext cx="5029200" cy="1874520"/>
          </a:xfrm>
          <a:prstGeom prst="roundRect">
            <a:avLst>
              <a:gd name="adj" fmla="val 6829"/>
            </a:avLst>
          </a:prstGeom>
          <a:solidFill>
            <a:srgbClr val="F3EBE0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98755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NLP pipeline for detecting hate speech and toxicity across social media, covering data acquisition through model evaluation.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Two sources: Google Jigsaw Civil Comments (~1.8M forum comments) and TweetEval benchmark (9,000 tweets).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Final modeling dataset: 58,954 records after stratified sampling and merging.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Label split: 51.2% non-toxic, 48.8% toxic — reasonably balanced.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Key challenge: Only 2.6% vocabulary overlap (Jigsaw vs Twitter) creates a cross-platform domain gap.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868680"/>
            <a:ext cx="3383280" cy="1874520"/>
          </a:xfrm>
          <a:prstGeom prst="roundRect">
            <a:avLst>
              <a:gd name="adj" fmla="val 6829"/>
            </a:avLst>
          </a:prstGeom>
          <a:solidFill>
            <a:srgbClr val="8B4513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98755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AT A GLANCE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669280" y="1737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22376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87.12%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23760" y="1737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Accuracy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669280" y="19933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87.39%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669280" y="24505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F1 Score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223760" y="19933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23760" y="24505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Categories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5029200" cy="731520"/>
          </a:xfrm>
          <a:prstGeom prst="roundRect">
            <a:avLst>
              <a:gd name="adj" fmla="val 15000"/>
            </a:avLst>
          </a:prstGeom>
          <a:solidFill>
            <a:srgbClr val="EAE0D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92608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DISTRIBUTION (MODELING SET)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2387681" cy="256032"/>
          </a:xfrm>
          <a:prstGeom prst="roundRect">
            <a:avLst>
              <a:gd name="adj" fmla="val 14286"/>
            </a:avLst>
          </a:prstGeom>
          <a:solidFill>
            <a:srgbClr val="5B7553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00400"/>
            <a:ext cx="2387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Non-Toxic 51.2%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844881" y="3200400"/>
            <a:ext cx="2275759" cy="256032"/>
          </a:xfrm>
          <a:prstGeom prst="roundRect">
            <a:avLst>
              <a:gd name="adj" fmla="val 14286"/>
            </a:avLst>
          </a:prstGeom>
          <a:solidFill>
            <a:srgbClr val="8B4513"/>
          </a:solidFill>
          <a:ln/>
        </p:spPr>
      </p:sp>
      <p:sp>
        <p:nvSpPr>
          <p:cNvPr id="26" name="Text 24"/>
          <p:cNvSpPr/>
          <p:nvPr/>
        </p:nvSpPr>
        <p:spPr>
          <a:xfrm>
            <a:off x="2844881" y="3200400"/>
            <a:ext cx="22757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 48.8%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0" y="2834640"/>
            <a:ext cx="3383280" cy="731520"/>
          </a:xfrm>
          <a:prstGeom prst="roundRect">
            <a:avLst>
              <a:gd name="adj" fmla="val 15000"/>
            </a:avLst>
          </a:prstGeom>
          <a:solidFill>
            <a:srgbClr val="F5DDDD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CHALLENGE</a:t>
            </a:r>
            <a:endParaRPr lang="en-US" sz="800" dirty="0"/>
          </a:p>
          <a:p>
            <a:pPr indent="0" marL="0">
              <a:buNone/>
            </a:pPr>
            <a:r>
              <a:rPr lang="en-US" sz="850" dirty="0">
                <a:solidFill>
                  <a:srgbClr val="2E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2.6% vocabulary overlap — domain gap is the primary generalization obstacle.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370332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TEAM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931920"/>
            <a:ext cx="2057400" cy="640080"/>
          </a:xfrm>
          <a:prstGeom prst="roundRect">
            <a:avLst>
              <a:gd name="adj" fmla="val 17143"/>
            </a:avLst>
          </a:prstGeom>
          <a:solidFill>
            <a:srgbClr val="F3EBE0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4050792"/>
            <a:ext cx="411480" cy="411480"/>
          </a:xfrm>
          <a:prstGeom prst="ellipse">
            <a:avLst/>
          </a:prstGeom>
          <a:solidFill>
            <a:srgbClr val="5B7553"/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HJ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4023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Himanshu Jain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&amp; Clustering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2057400" cy="640080"/>
          </a:xfrm>
          <a:prstGeom prst="roundRect">
            <a:avLst>
              <a:gd name="adj" fmla="val 17143"/>
            </a:avLst>
          </a:prstGeom>
          <a:solidFill>
            <a:srgbClr val="F3EBE0"/>
          </a:solidFill>
          <a:ln/>
        </p:spPr>
      </p:sp>
      <p:sp>
        <p:nvSpPr>
          <p:cNvPr id="35" name="Shape 33"/>
          <p:cNvSpPr/>
          <p:nvPr/>
        </p:nvSpPr>
        <p:spPr>
          <a:xfrm>
            <a:off x="2560320" y="4050792"/>
            <a:ext cx="411480" cy="41148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36" name="Text 34"/>
          <p:cNvSpPr/>
          <p:nvPr/>
        </p:nvSpPr>
        <p:spPr>
          <a:xfrm>
            <a:off x="256032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063240" y="4023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Rahul Hipparkar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0" y="3931920"/>
            <a:ext cx="2057400" cy="640080"/>
          </a:xfrm>
          <a:prstGeom prst="roundRect">
            <a:avLst>
              <a:gd name="adj" fmla="val 17143"/>
            </a:avLst>
          </a:prstGeom>
          <a:solidFill>
            <a:srgbClr val="F3EBE0"/>
          </a:solidFill>
          <a:ln/>
        </p:spPr>
      </p:sp>
      <p:sp>
        <p:nvSpPr>
          <p:cNvPr id="39" name="Shape 37"/>
          <p:cNvSpPr/>
          <p:nvPr/>
        </p:nvSpPr>
        <p:spPr>
          <a:xfrm>
            <a:off x="4709160" y="4050792"/>
            <a:ext cx="411480" cy="411480"/>
          </a:xfrm>
          <a:prstGeom prst="ellipse">
            <a:avLst/>
          </a:prstGeom>
          <a:solidFill>
            <a:srgbClr val="6E5C7E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12080" y="4023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Augustine Joy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/ DistilBERT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20840" y="3931920"/>
            <a:ext cx="2057400" cy="640080"/>
          </a:xfrm>
          <a:prstGeom prst="roundRect">
            <a:avLst>
              <a:gd name="adj" fmla="val 17143"/>
            </a:avLst>
          </a:prstGeom>
          <a:solidFill>
            <a:srgbClr val="F3EBE0"/>
          </a:solidFill>
          <a:ln/>
        </p:spPr>
      </p:sp>
      <p:sp>
        <p:nvSpPr>
          <p:cNvPr id="43" name="Shape 41"/>
          <p:cNvSpPr/>
          <p:nvPr/>
        </p:nvSpPr>
        <p:spPr>
          <a:xfrm>
            <a:off x="6858000" y="4050792"/>
            <a:ext cx="411480" cy="411480"/>
          </a:xfrm>
          <a:prstGeom prst="ellipse">
            <a:avLst/>
          </a:prstGeom>
          <a:solidFill>
            <a:srgbClr val="9B6A6C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60920" y="4023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Glen Vadakkoott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Clustering, Pattern Mining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74320" y="4663440"/>
            <a:ext cx="4251960" cy="201168"/>
          </a:xfrm>
          <a:prstGeom prst="roundRect">
            <a:avLst>
              <a:gd name="adj" fmla="val 50000"/>
            </a:avLst>
          </a:prstGeom>
          <a:solidFill>
            <a:srgbClr val="EAE0D2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466344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   </a:t>
            </a:r>
            <a:pPr indent="0" marL="0">
              <a:buNone/>
            </a:pPr>
            <a:r>
              <a:rPr lang="en-US" sz="800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github.com/glenpaulson/toxicity-mining-nlp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617720" y="4663440"/>
            <a:ext cx="4251960" cy="201168"/>
          </a:xfrm>
          <a:prstGeom prst="roundRect">
            <a:avLst>
              <a:gd name="adj" fmla="val 50000"/>
            </a:avLst>
          </a:prstGeom>
          <a:solidFill>
            <a:srgbClr val="EAE0D2"/>
          </a:solidFill>
          <a:ln/>
        </p:spPr>
      </p:sp>
      <p:sp>
        <p:nvSpPr>
          <p:cNvPr id="49" name="Text 47"/>
          <p:cNvSpPr/>
          <p:nvPr/>
        </p:nvSpPr>
        <p:spPr>
          <a:xfrm>
            <a:off x="4800600" y="466344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   </a:t>
            </a:r>
            <a:pPr indent="0" marL="0">
              <a:buNone/>
            </a:pPr>
            <a:r>
              <a:rPr lang="en-US" sz="800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glenpaulson.github.io/toxicity-mining-website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74320" y="490118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CSCI 5502 Data Mining  |  Group 11  |  University of Colorado Boulder  |  Spring 2026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DFC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1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88720" y="1463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Methodology — 7 Models Across 4 ML Categories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(1.8M) + TweetEval (9K)  |  58,954 modeling records  |  Group 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731520"/>
            <a:ext cx="8595360" cy="0"/>
          </a:xfrm>
          <a:prstGeom prst="line">
            <a:avLst/>
          </a:prstGeom>
          <a:noFill/>
          <a:ln w="6350">
            <a:solidFill>
              <a:srgbClr val="D8C8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68680"/>
            <a:ext cx="3657600" cy="3017520"/>
          </a:xfrm>
          <a:prstGeom prst="roundRect">
            <a:avLst>
              <a:gd name="adj" fmla="val 4242"/>
            </a:avLst>
          </a:prstGeom>
          <a:solidFill>
            <a:srgbClr val="F3EBE0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9875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PIPELINE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98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1280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Contraction Expansion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("don't" → "do not")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664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" y="1645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Lowercasing + URL Normalization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@user, hashtag handling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2996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029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0116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Tokenization + Stopword Removal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NLTK english tokens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39572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" y="2377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Vectorization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 features, unigrams + bigrams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76148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76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27432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Truncated SVD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 → 200–300 dims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12724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" y="3108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 Normalization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Zero-mean, unit-variance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3493008"/>
            <a:ext cx="256032" cy="256032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" y="34747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 Tokenizer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text → WordPiece (max 128)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114800" y="868680"/>
            <a:ext cx="4754880" cy="1463040"/>
          </a:xfrm>
          <a:prstGeom prst="roundRect">
            <a:avLst>
              <a:gd name="adj" fmla="val 8750"/>
            </a:avLst>
          </a:prstGeom>
          <a:solidFill>
            <a:srgbClr val="8B4513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97680" y="96012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D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MODELS ACROSS 4 CATEGORIES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97680" y="1197864"/>
            <a:ext cx="4389120" cy="246888"/>
          </a:xfrm>
          <a:prstGeom prst="roundRect">
            <a:avLst>
              <a:gd name="adj" fmla="val 29630"/>
            </a:avLst>
          </a:prstGeom>
          <a:solidFill>
            <a:srgbClr val="FFDFC2"/>
          </a:solidFill>
          <a:ln/>
        </p:spPr>
      </p:sp>
      <p:sp>
        <p:nvSpPr>
          <p:cNvPr id="33" name="Text 31"/>
          <p:cNvSpPr/>
          <p:nvPr/>
        </p:nvSpPr>
        <p:spPr>
          <a:xfrm>
            <a:off x="4407408" y="119786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11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87568" y="119786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11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Bayes  |  LightGBM  |  DistilBERT  |  Stacking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297680" y="1472184"/>
            <a:ext cx="4389120" cy="246888"/>
          </a:xfrm>
          <a:prstGeom prst="roundRect">
            <a:avLst>
              <a:gd name="adj" fmla="val 29630"/>
            </a:avLst>
          </a:prstGeom>
          <a:solidFill>
            <a:srgbClr val="E5DEEA"/>
          </a:solidFill>
          <a:ln/>
        </p:spPr>
      </p:sp>
      <p:sp>
        <p:nvSpPr>
          <p:cNvPr id="36" name="Text 34"/>
          <p:cNvSpPr/>
          <p:nvPr/>
        </p:nvSpPr>
        <p:spPr>
          <a:xfrm>
            <a:off x="4407408" y="147218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11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687568" y="147218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1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 (also meta-learner)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297680" y="1746504"/>
            <a:ext cx="4389120" cy="246888"/>
          </a:xfrm>
          <a:prstGeom prst="roundRect">
            <a:avLst>
              <a:gd name="adj" fmla="val 29630"/>
            </a:avLst>
          </a:prstGeom>
          <a:solidFill>
            <a:srgbClr val="DDE5D8"/>
          </a:solidFill>
          <a:ln/>
        </p:spPr>
      </p:sp>
      <p:sp>
        <p:nvSpPr>
          <p:cNvPr id="39" name="Text 37"/>
          <p:cNvSpPr/>
          <p:nvPr/>
        </p:nvSpPr>
        <p:spPr>
          <a:xfrm>
            <a:off x="4407408" y="174650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24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687568" y="174650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4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KMeans  (k=2, Silhouette = 0.0999)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297680" y="2020824"/>
            <a:ext cx="4389120" cy="246888"/>
          </a:xfrm>
          <a:prstGeom prst="roundRect">
            <a:avLst>
              <a:gd name="adj" fmla="val 29630"/>
            </a:avLst>
          </a:prstGeom>
          <a:solidFill>
            <a:srgbClr val="F5DDDD"/>
          </a:solidFill>
          <a:ln/>
        </p:spPr>
      </p:sp>
      <p:sp>
        <p:nvSpPr>
          <p:cNvPr id="42" name="Text 40"/>
          <p:cNvSpPr/>
          <p:nvPr/>
        </p:nvSpPr>
        <p:spPr>
          <a:xfrm>
            <a:off x="4407408" y="202082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MINING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687568" y="202082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Apriori  (min_support=0.01, min_conf=0.2)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0" y="2423160"/>
            <a:ext cx="4754880" cy="457200"/>
          </a:xfrm>
          <a:prstGeom prst="roundRect">
            <a:avLst>
              <a:gd name="adj" fmla="val 20000"/>
            </a:avLst>
          </a:prstGeom>
          <a:solidFill>
            <a:srgbClr val="EAE0D2"/>
          </a:solidFill>
          <a:ln/>
        </p:spPr>
      </p:sp>
      <p:sp>
        <p:nvSpPr>
          <p:cNvPr id="45" name="Text 43"/>
          <p:cNvSpPr/>
          <p:nvPr/>
        </p:nvSpPr>
        <p:spPr>
          <a:xfrm>
            <a:off x="429768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 TUNING:    </a:t>
            </a:r>
            <a:pPr indent="0" marL="0">
              <a:buNone/>
            </a:pPr>
            <a:r>
              <a:rPr lang="en-US" sz="80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GridSearchCV</a:t>
            </a:r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Naive Bayes &amp; LR  |  </a:t>
            </a:r>
            <a:pPr indent="0" marL="0">
              <a:buNone/>
            </a:pPr>
            <a:r>
              <a:rPr lang="en-US" sz="80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Optuna</a:t>
            </a:r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LightGBM (50), DistilBERT (5), Stacking (30/model)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114800" y="299008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AT A GLANCE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4114800" y="3200400"/>
            <a:ext cx="1524000" cy="640080"/>
          </a:xfrm>
          <a:prstGeom prst="roundRect">
            <a:avLst>
              <a:gd name="adj" fmla="val 14286"/>
            </a:avLst>
          </a:prstGeom>
          <a:solidFill>
            <a:srgbClr val="F3EBE0"/>
          </a:solidFill>
          <a:ln/>
        </p:spPr>
      </p:sp>
      <p:sp>
        <p:nvSpPr>
          <p:cNvPr id="48" name="Text 46"/>
          <p:cNvSpPr/>
          <p:nvPr/>
        </p:nvSpPr>
        <p:spPr>
          <a:xfrm>
            <a:off x="4224528" y="3246120"/>
            <a:ext cx="1304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8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1.77M rows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8.3% toxic | long forum posts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730240" y="3200400"/>
            <a:ext cx="1524000" cy="640080"/>
          </a:xfrm>
          <a:prstGeom prst="roundRect">
            <a:avLst>
              <a:gd name="adj" fmla="val 14286"/>
            </a:avLst>
          </a:prstGeom>
          <a:solidFill>
            <a:srgbClr val="F3EBE0"/>
          </a:solidFill>
          <a:ln/>
        </p:spPr>
      </p:sp>
      <p:sp>
        <p:nvSpPr>
          <p:cNvPr id="50" name="Text 48"/>
          <p:cNvSpPr/>
          <p:nvPr/>
        </p:nvSpPr>
        <p:spPr>
          <a:xfrm>
            <a:off x="5839968" y="3246120"/>
            <a:ext cx="1304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TweetEval</a:t>
            </a:r>
            <a:endParaRPr lang="en-US" sz="8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8,954 rows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| short tweets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345680" y="3200400"/>
            <a:ext cx="1524000" cy="640080"/>
          </a:xfrm>
          <a:prstGeom prst="roundRect">
            <a:avLst>
              <a:gd name="adj" fmla="val 14286"/>
            </a:avLst>
          </a:prstGeom>
          <a:solidFill>
            <a:srgbClr val="F3EBE0"/>
          </a:solidFill>
          <a:ln/>
        </p:spPr>
      </p:sp>
      <p:sp>
        <p:nvSpPr>
          <p:cNvPr id="52" name="Text 50"/>
          <p:cNvSpPr/>
          <p:nvPr/>
        </p:nvSpPr>
        <p:spPr>
          <a:xfrm>
            <a:off x="7455408" y="3246120"/>
            <a:ext cx="1304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8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58,954 rows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51.2% / 48.8% split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74320" y="4023360"/>
            <a:ext cx="8595360" cy="777240"/>
          </a:xfrm>
          <a:prstGeom prst="roundRect">
            <a:avLst>
              <a:gd name="adj" fmla="val 11765"/>
            </a:avLst>
          </a:prstGeom>
          <a:solidFill>
            <a:srgbClr val="12100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4142232"/>
            <a:ext cx="2377440" cy="201168"/>
          </a:xfrm>
          <a:prstGeom prst="roundRect">
            <a:avLst>
              <a:gd name="adj" fmla="val 50000"/>
            </a:avLst>
          </a:prstGeom>
          <a:solidFill>
            <a:srgbClr val="4D2A1F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142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B5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  |  TRAINER (Optuna)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2920" y="440740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E0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TrainingArguments(learning_rate=trial.suggest_float("lr", 1e-5, 5e-5, log=True), batch_size=batch_size, ...)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trainer = Trainer(model=model, args=args, train_dataset=train_tok, eval_dataset=val_tok, callbacks=[EarlyStoppingCallback(...)])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74320" y="490118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CSCI 5502 Data Mining  |  Group 11  |  University of Colorado Boulder  |  Spring 2026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DFC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1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88720" y="1463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Results &amp; Key Conclusions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(1.8M) + TweetEval (9K)  |  58,954 modeling records  |  Group 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731520"/>
            <a:ext cx="8595360" cy="0"/>
          </a:xfrm>
          <a:prstGeom prst="line">
            <a:avLst/>
          </a:prstGeom>
          <a:noFill/>
          <a:ln w="6350">
            <a:solidFill>
              <a:srgbClr val="D8C8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68680"/>
            <a:ext cx="5074920" cy="2331720"/>
          </a:xfrm>
          <a:prstGeom prst="roundRect">
            <a:avLst>
              <a:gd name="adj" fmla="val 5490"/>
            </a:avLst>
          </a:prstGeom>
          <a:solidFill>
            <a:srgbClr val="F3EBE0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987552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 — TEST SET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47091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82296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0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0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0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0D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DistilBERT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F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F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F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45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FC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 Regression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83.90%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82.71%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91.49%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Stacking Classifier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82.29%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82.24%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Bayes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77.91%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77.61%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77.91%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76.99%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1A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76.90%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0" y="868680"/>
            <a:ext cx="3383280" cy="2331720"/>
          </a:xfrm>
          <a:prstGeom prst="roundRect">
            <a:avLst>
              <a:gd name="adj" fmla="val 5490"/>
            </a:avLst>
          </a:prstGeom>
          <a:solidFill>
            <a:srgbClr val="F3EBE0"/>
          </a:solidFill>
          <a:ln/>
          <a:effectLst>
            <a:outerShdw sx="100000" sy="100000" kx="0" ky="0" algn="bl" rotWithShape="0" blurRad="127000" dist="1905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669280" y="98755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  |  CONFUSION MATRIX (TEST SET)</a:t>
            </a:r>
            <a:endParaRPr lang="en-US" sz="800" dirty="0"/>
          </a:p>
        </p:txBody>
      </p:sp>
      <p:pic>
        <p:nvPicPr>
          <p:cNvPr id="12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770" y="1234440"/>
            <a:ext cx="2356539" cy="1874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4320" y="331012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274320" y="3520440"/>
            <a:ext cx="2093976" cy="868680"/>
          </a:xfrm>
          <a:prstGeom prst="roundRect">
            <a:avLst>
              <a:gd name="adj" fmla="val 12632"/>
            </a:avLst>
          </a:prstGeom>
          <a:solidFill>
            <a:srgbClr val="F3EBE0"/>
          </a:solidFill>
          <a:ln/>
        </p:spPr>
      </p:sp>
      <p:sp>
        <p:nvSpPr>
          <p:cNvPr id="15" name="Shape 11"/>
          <p:cNvSpPr/>
          <p:nvPr/>
        </p:nvSpPr>
        <p:spPr>
          <a:xfrm>
            <a:off x="411480" y="3639312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8B4513"/>
          </a:solidFill>
          <a:ln/>
        </p:spPr>
      </p:sp>
      <p:sp>
        <p:nvSpPr>
          <p:cNvPr id="16" name="Text 12"/>
          <p:cNvSpPr/>
          <p:nvPr/>
        </p:nvSpPr>
        <p:spPr>
          <a:xfrm>
            <a:off x="411480" y="3639312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77240" y="36118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 Dominates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11480" y="3904488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transformer beat all traditional models by 5+ accuracy points.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2441448" y="3520440"/>
            <a:ext cx="2093976" cy="868680"/>
          </a:xfrm>
          <a:prstGeom prst="roundRect">
            <a:avLst>
              <a:gd name="adj" fmla="val 12632"/>
            </a:avLst>
          </a:prstGeom>
          <a:solidFill>
            <a:srgbClr val="F3EBE0"/>
          </a:solidFill>
          <a:ln/>
        </p:spPr>
      </p:sp>
      <p:sp>
        <p:nvSpPr>
          <p:cNvPr id="20" name="Shape 16"/>
          <p:cNvSpPr/>
          <p:nvPr/>
        </p:nvSpPr>
        <p:spPr>
          <a:xfrm>
            <a:off x="2578608" y="3639312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8B4513"/>
          </a:solidFill>
          <a:ln/>
        </p:spPr>
      </p:sp>
      <p:sp>
        <p:nvSpPr>
          <p:cNvPr id="21" name="Text 17"/>
          <p:cNvSpPr/>
          <p:nvPr/>
        </p:nvSpPr>
        <p:spPr>
          <a:xfrm>
            <a:off x="2578608" y="3639312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2944368" y="36118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Adds Value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2578608" y="3904488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 + NB + LightGBM ensemble achieved ROC-AUC 0.898 — beats individuals.</a:t>
            </a:r>
            <a:endParaRPr lang="en-US" sz="750" dirty="0"/>
          </a:p>
        </p:txBody>
      </p:sp>
      <p:sp>
        <p:nvSpPr>
          <p:cNvPr id="24" name="Shape 20"/>
          <p:cNvSpPr/>
          <p:nvPr/>
        </p:nvSpPr>
        <p:spPr>
          <a:xfrm>
            <a:off x="4608576" y="3520440"/>
            <a:ext cx="2093976" cy="868680"/>
          </a:xfrm>
          <a:prstGeom prst="roundRect">
            <a:avLst>
              <a:gd name="adj" fmla="val 12632"/>
            </a:avLst>
          </a:prstGeom>
          <a:solidFill>
            <a:srgbClr val="F3EBE0"/>
          </a:solidFill>
          <a:ln/>
        </p:spPr>
      </p:sp>
      <p:sp>
        <p:nvSpPr>
          <p:cNvPr id="25" name="Shape 21"/>
          <p:cNvSpPr/>
          <p:nvPr/>
        </p:nvSpPr>
        <p:spPr>
          <a:xfrm>
            <a:off x="4745736" y="3639312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8B4513"/>
          </a:solidFill>
          <a:ln/>
        </p:spPr>
      </p:sp>
      <p:sp>
        <p:nvSpPr>
          <p:cNvPr id="26" name="Text 22"/>
          <p:cNvSpPr/>
          <p:nvPr/>
        </p:nvSpPr>
        <p:spPr>
          <a:xfrm>
            <a:off x="4745736" y="3639312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5111496" y="36118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Apriori Reveals Patterns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745736" y="3904488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 toxic vs 454 non-toxic itemsets. Top: {black}→{white}, lift 6.51.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6775704" y="3520440"/>
            <a:ext cx="2093976" cy="868680"/>
          </a:xfrm>
          <a:prstGeom prst="roundRect">
            <a:avLst>
              <a:gd name="adj" fmla="val 12632"/>
            </a:avLst>
          </a:prstGeom>
          <a:solidFill>
            <a:srgbClr val="F3EBE0"/>
          </a:solidFill>
          <a:ln/>
        </p:spPr>
      </p:sp>
      <p:sp>
        <p:nvSpPr>
          <p:cNvPr id="30" name="Shape 26"/>
          <p:cNvSpPr/>
          <p:nvPr/>
        </p:nvSpPr>
        <p:spPr>
          <a:xfrm>
            <a:off x="6912864" y="3639312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8B4513"/>
          </a:solidFill>
          <a:ln/>
        </p:spPr>
      </p:sp>
      <p:sp>
        <p:nvSpPr>
          <p:cNvPr id="31" name="Text 27"/>
          <p:cNvSpPr/>
          <p:nvPr/>
        </p:nvSpPr>
        <p:spPr>
          <a:xfrm>
            <a:off x="6912864" y="3639312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7278624" y="36118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KMeans Validates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6912864" y="3904488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k=2 split (93.5%/6.5%) mirrors class distribution. Confirms binary structure.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274320" y="4498848"/>
            <a:ext cx="2773680" cy="329184"/>
          </a:xfrm>
          <a:prstGeom prst="roundRect">
            <a:avLst>
              <a:gd name="adj" fmla="val 27778"/>
            </a:avLst>
          </a:prstGeom>
          <a:solidFill>
            <a:srgbClr val="DDE5D8"/>
          </a:solidFill>
          <a:ln/>
        </p:spPr>
      </p:sp>
      <p:sp>
        <p:nvSpPr>
          <p:cNvPr id="35" name="Text 31"/>
          <p:cNvSpPr/>
          <p:nvPr/>
        </p:nvSpPr>
        <p:spPr>
          <a:xfrm>
            <a:off x="411480" y="4498848"/>
            <a:ext cx="249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5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</a:t>
            </a:r>
            <a:pPr indent="0" marL="0">
              <a:buNone/>
            </a:pPr>
            <a:r>
              <a:rPr lang="en-US" sz="750" dirty="0">
                <a:solidFill>
                  <a:srgbClr val="1E24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 (87.12% / 87.39% F1) is the recommended production model.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3185160" y="4498848"/>
            <a:ext cx="2773680" cy="329184"/>
          </a:xfrm>
          <a:prstGeom prst="roundRect">
            <a:avLst>
              <a:gd name="adj" fmla="val 27778"/>
            </a:avLst>
          </a:prstGeom>
          <a:solidFill>
            <a:srgbClr val="DDE5D8"/>
          </a:solidFill>
          <a:ln/>
        </p:spPr>
      </p:sp>
      <p:sp>
        <p:nvSpPr>
          <p:cNvPr id="37" name="Text 33"/>
          <p:cNvSpPr/>
          <p:nvPr/>
        </p:nvSpPr>
        <p:spPr>
          <a:xfrm>
            <a:off x="3322320" y="4498848"/>
            <a:ext cx="249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5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</a:t>
            </a:r>
            <a:pPr indent="0" marL="0">
              <a:buNone/>
            </a:pPr>
            <a:r>
              <a:rPr lang="en-US" sz="750" dirty="0">
                <a:solidFill>
                  <a:srgbClr val="1E24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domain gap (2.6%) — fine-tuning is the next step.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6096000" y="4498848"/>
            <a:ext cx="2773680" cy="329184"/>
          </a:xfrm>
          <a:prstGeom prst="roundRect">
            <a:avLst>
              <a:gd name="adj" fmla="val 27778"/>
            </a:avLst>
          </a:prstGeom>
          <a:solidFill>
            <a:srgbClr val="DDE5D8"/>
          </a:solidFill>
          <a:ln/>
        </p:spPr>
      </p:sp>
      <p:sp>
        <p:nvSpPr>
          <p:cNvPr id="39" name="Text 35"/>
          <p:cNvSpPr/>
          <p:nvPr/>
        </p:nvSpPr>
        <p:spPr>
          <a:xfrm>
            <a:off x="6233160" y="4498848"/>
            <a:ext cx="249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5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</a:t>
            </a:r>
            <a:pPr indent="0" marL="0">
              <a:buNone/>
            </a:pPr>
            <a:r>
              <a:rPr lang="en-US" sz="750" dirty="0">
                <a:solidFill>
                  <a:srgbClr val="1E24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Apriori + classification together provide detection AND interpretability.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274320" y="490118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B5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CSCI 5502 Data Mining  |  Group 11  |  University of Colorado Boulder  |  Spring 2026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Toxicity Mining NLP — Group 11</dc:title>
  <dc:subject>PptxGenJS Presentation</dc:subject>
  <dc:creator>Group 11</dc:creator>
  <cp:lastModifiedBy>Group 11</cp:lastModifiedBy>
  <cp:revision>1</cp:revision>
  <dcterms:created xsi:type="dcterms:W3CDTF">2026-04-21T04:13:42Z</dcterms:created>
  <dcterms:modified xsi:type="dcterms:W3CDTF">2026-04-21T04:13:42Z</dcterms:modified>
</cp:coreProperties>
</file>