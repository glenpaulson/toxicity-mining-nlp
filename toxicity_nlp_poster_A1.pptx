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031200" cy="14630400"/>
  <p:notesSz cx="14630400" cy="2103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00" cy="2194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57400"/>
            <a:ext cx="2103120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645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Hate Speech &amp; Toxicity Mining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Differentiating generic offensive language from targeted hate speech using NLP and transformer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55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Hipparkar  ·  Himanshu Jain  ·  Augustine Joy  ·  Glen Vadakkoott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0" y="182880"/>
            <a:ext cx="2468880" cy="1828800"/>
          </a:xfrm>
          <a:prstGeom prst="rect">
            <a:avLst/>
          </a:prstGeom>
          <a:solidFill>
            <a:srgbClr val="243B55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0" y="228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Colorado Boulder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0" y="117043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Program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2331720"/>
            <a:ext cx="0" cy="116586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487400" y="2331720"/>
            <a:ext cx="0" cy="116586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82880" y="2331720"/>
            <a:ext cx="7178040" cy="28346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441448"/>
            <a:ext cx="91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468880"/>
            <a:ext cx="6976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Introduction &amp; Motivation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" y="2926080"/>
            <a:ext cx="6903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platforms face a growing challenge in moderating harmful content. While generic offensive language can be filtered using keyword matching, targeted hate speech — directed at specific identities, communities, or individuals — requires deeper semantic understanding.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investigates whether ML models can reliably distinguish between these two forms of harmful content, enabling platforms to enforce nuanced, rights-respecting moderation policies.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5303520"/>
            <a:ext cx="7178040" cy="22402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5413248"/>
            <a:ext cx="914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5440680"/>
            <a:ext cx="6976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Research Objectives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5916168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5879592"/>
            <a:ext cx="6647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targeted hate speech from generic offensive language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630936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6272784"/>
            <a:ext cx="6647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traditional classifiers vs. transformer-based models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6702552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6665976"/>
            <a:ext cx="6647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victimized groups from real social media data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7095744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" y="7059168"/>
            <a:ext cx="6647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towards safer, more equitable digital environments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" y="7680960"/>
            <a:ext cx="7178040" cy="63093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7790688"/>
            <a:ext cx="91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7818120"/>
            <a:ext cx="6976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Data Sources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7472" y="8275320"/>
            <a:ext cx="6858000" cy="1115568"/>
          </a:xfrm>
          <a:prstGeom prst="rect">
            <a:avLst/>
          </a:prstGeom>
          <a:solidFill>
            <a:srgbClr val="F0F9FF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8275320"/>
            <a:ext cx="73152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8321040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Jigsaw (HuggingFace)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8622792"/>
            <a:ext cx="670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million rows  ·  660 MB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8869680"/>
            <a:ext cx="6702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toxicity · severe toxicity · insult · threat · identity attack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" y="9509760"/>
            <a:ext cx="6858000" cy="1115568"/>
          </a:xfrm>
          <a:prstGeom prst="rect">
            <a:avLst/>
          </a:prstGeom>
          <a:solidFill>
            <a:srgbClr val="FFF7ED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9509760"/>
            <a:ext cx="73152" cy="1115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9555480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TweetEval Hate Dataset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9857232"/>
            <a:ext cx="670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 rows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10104120"/>
            <a:ext cx="6702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hate / non-hate classification on Twitter data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47472" y="10789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Dataset Statistics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7472" y="11219688"/>
            <a:ext cx="3383280" cy="841248"/>
          </a:xfrm>
          <a:prstGeom prst="rect">
            <a:avLst/>
          </a:prstGeom>
          <a:solidFill>
            <a:srgbClr val="1B2E45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11274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~1.81M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47472" y="11740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931920" y="11219688"/>
            <a:ext cx="3383280" cy="841248"/>
          </a:xfrm>
          <a:prstGeom prst="rect">
            <a:avLst/>
          </a:prstGeom>
          <a:solidFill>
            <a:srgbClr val="1B2E45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0" y="11274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~10%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931920" y="11740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comments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7472" y="12179808"/>
            <a:ext cx="3383280" cy="841248"/>
          </a:xfrm>
          <a:prstGeom prst="rect">
            <a:avLst/>
          </a:prstGeom>
          <a:solidFill>
            <a:srgbClr val="1B2E45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12234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1%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47472" y="12701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attack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931920" y="12179808"/>
            <a:ext cx="3383280" cy="841248"/>
          </a:xfrm>
          <a:prstGeom prst="rect">
            <a:avLst/>
          </a:prstGeom>
          <a:solidFill>
            <a:srgbClr val="1B2E45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0" y="12234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3931920" y="12701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03720" y="2331720"/>
            <a:ext cx="7178040" cy="64008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03720" y="2441448"/>
            <a:ext cx="91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68312" y="2468880"/>
            <a:ext cx="6976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Methodology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068312" y="2953512"/>
            <a:ext cx="6858000" cy="126187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68312" y="2953512"/>
            <a:ext cx="47548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68312" y="2953512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7653528" y="3044952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Preprocessing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653528" y="3374136"/>
            <a:ext cx="6245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stop-word removal, lowercasing, and noise filtering to standardize raw social media text.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068312" y="4370832"/>
            <a:ext cx="6858000" cy="1261872"/>
          </a:xfrm>
          <a:prstGeom prst="rect">
            <a:avLst/>
          </a:prstGeom>
          <a:solidFill>
            <a:srgbClr val="F0FDF4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68312" y="4370832"/>
            <a:ext cx="475488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68312" y="4370832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700" dirty="0"/>
          </a:p>
        </p:txBody>
      </p:sp>
      <p:sp>
        <p:nvSpPr>
          <p:cNvPr id="64" name="Text 62"/>
          <p:cNvSpPr/>
          <p:nvPr/>
        </p:nvSpPr>
        <p:spPr>
          <a:xfrm>
            <a:off x="7653528" y="4462272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653528" y="4791456"/>
            <a:ext cx="6245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(50k dims), character n-grams, and engineered features: comment length, punctuation density, capital ratio.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068312" y="5788152"/>
            <a:ext cx="6858000" cy="126187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68312" y="5788152"/>
            <a:ext cx="47548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68312" y="5788152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700" dirty="0"/>
          </a:p>
        </p:txBody>
      </p:sp>
      <p:sp>
        <p:nvSpPr>
          <p:cNvPr id="69" name="Text 67"/>
          <p:cNvSpPr/>
          <p:nvPr/>
        </p:nvSpPr>
        <p:spPr>
          <a:xfrm>
            <a:off x="7653528" y="5879592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653528" y="6208776"/>
            <a:ext cx="6245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Naive Bayes, Logistic Regression (GridSearchCV, C=1.0, L1), LightGBM, Stacking Classifier.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Transformer: DistilBERT fine-tuned on multi-label toxicity targets.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7068312" y="7205472"/>
            <a:ext cx="6858000" cy="1261872"/>
          </a:xfrm>
          <a:prstGeom prst="rect">
            <a:avLst/>
          </a:prstGeom>
          <a:solidFill>
            <a:srgbClr val="F0FDF4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068312" y="7205472"/>
            <a:ext cx="475488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68312" y="7205472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700" dirty="0"/>
          </a:p>
        </p:txBody>
      </p:sp>
      <p:sp>
        <p:nvSpPr>
          <p:cNvPr id="74" name="Text 72"/>
          <p:cNvSpPr/>
          <p:nvPr/>
        </p:nvSpPr>
        <p:spPr>
          <a:xfrm>
            <a:off x="7653528" y="7296912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&amp; Visualization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653528" y="7626096"/>
            <a:ext cx="6245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Accuracy, Precision, Recall, ROC-AUC on held-out test sets. Confusion matrices, per-class breakdowns, ROC curves.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903720" y="8897112"/>
            <a:ext cx="7178040" cy="5989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903720" y="9006840"/>
            <a:ext cx="914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68312" y="9034272"/>
            <a:ext cx="6976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Model Comparison — Test Set Results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068312" y="9509760"/>
            <a:ext cx="6858000" cy="34747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68312" y="9509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9628632" y="9509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10680192" y="9509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Prec/Rec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1731752" y="9509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2783312" y="9509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ROC-AUC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068312" y="9857232"/>
            <a:ext cx="6858000" cy="457200"/>
          </a:xfrm>
          <a:prstGeom prst="rect">
            <a:avLst/>
          </a:prstGeom>
          <a:solidFill>
            <a:srgbClr val="E0FD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068312" y="9857232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159752" y="986637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 ★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628632" y="986637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10680192" y="986637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0.840/0.910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11731752" y="986637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12783312" y="98663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068312" y="10332720"/>
            <a:ext cx="6858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159752" y="103418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9628632" y="1034186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0.839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10680192" y="1034186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0.875/0.784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11731752" y="1034186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12783312" y="1034186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0.915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7068312" y="10808208"/>
            <a:ext cx="68580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59752" y="108173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Classifier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9628632" y="1081735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0.820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10680192" y="1081735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0.840/0.800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11731752" y="1081735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0.820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12783312" y="1081735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7068312" y="11283696"/>
            <a:ext cx="6858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159752" y="112928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9628632" y="112928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0.779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10680192" y="112928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0.773/0.779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11731752" y="112928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0.776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12783312" y="112928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0.779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7068312" y="11759184"/>
            <a:ext cx="68580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159752" y="117683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9628632" y="117683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0.770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10680192" y="117683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0.791/0.722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11731752" y="117683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0.755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12783312" y="117683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0.769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7068312" y="123078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overall model  ·  All scores on held-out test sets  ·  Milestone 3 Final Evaluation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13624560" y="2331720"/>
            <a:ext cx="7178040" cy="47091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18" name="Shape 116"/>
          <p:cNvSpPr/>
          <p:nvPr/>
        </p:nvSpPr>
        <p:spPr>
          <a:xfrm>
            <a:off x="13624560" y="2441448"/>
            <a:ext cx="914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3789152" y="2468880"/>
            <a:ext cx="6976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Bias, Limitations &amp; Mitigations</a:t>
            </a:r>
            <a:endParaRPr lang="en-US" sz="1600" dirty="0"/>
          </a:p>
        </p:txBody>
      </p:sp>
      <p:sp>
        <p:nvSpPr>
          <p:cNvPr id="120" name="Shape 118"/>
          <p:cNvSpPr/>
          <p:nvPr/>
        </p:nvSpPr>
        <p:spPr>
          <a:xfrm>
            <a:off x="13789152" y="2926080"/>
            <a:ext cx="6858000" cy="1207008"/>
          </a:xfrm>
          <a:prstGeom prst="rect">
            <a:avLst/>
          </a:prstGeom>
          <a:solidFill>
            <a:srgbClr val="FFF7ED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3789152" y="2926080"/>
            <a:ext cx="73152" cy="1207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3935456" y="2990088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Dialect &amp; Language Bias</a:t>
            </a:r>
            <a:endParaRPr lang="en-US" sz="1200" dirty="0"/>
          </a:p>
        </p:txBody>
      </p:sp>
      <p:sp>
        <p:nvSpPr>
          <p:cNvPr id="123" name="Text 121"/>
          <p:cNvSpPr/>
          <p:nvPr/>
        </p:nvSpPr>
        <p:spPr>
          <a:xfrm>
            <a:off x="13935456" y="3273552"/>
            <a:ext cx="670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Models may misinterpret non-native English or AAVE as toxic due to training data skew.</a:t>
            </a:r>
            <a:endParaRPr lang="en-US" sz="1050" dirty="0"/>
          </a:p>
        </p:txBody>
      </p:sp>
      <p:sp>
        <p:nvSpPr>
          <p:cNvPr id="124" name="Text 122"/>
          <p:cNvSpPr/>
          <p:nvPr/>
        </p:nvSpPr>
        <p:spPr>
          <a:xfrm>
            <a:off x="13935456" y="3639312"/>
            <a:ext cx="6702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Refine transformers using diverse Jigsaw texts; examine false positives on dialectal samples.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3789152" y="4270248"/>
            <a:ext cx="6858000" cy="1207008"/>
          </a:xfrm>
          <a:prstGeom prst="rect">
            <a:avLst/>
          </a:prstGeom>
          <a:solidFill>
            <a:srgbClr val="FDF4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3789152" y="4270248"/>
            <a:ext cx="73152" cy="1207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3935456" y="4334256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Subjectivity of Hate Speech</a:t>
            </a:r>
            <a:endParaRPr lang="en-US" sz="1200" dirty="0"/>
          </a:p>
        </p:txBody>
      </p:sp>
      <p:sp>
        <p:nvSpPr>
          <p:cNvPr id="128" name="Text 126"/>
          <p:cNvSpPr/>
          <p:nvPr/>
        </p:nvSpPr>
        <p:spPr>
          <a:xfrm>
            <a:off x="13935456" y="4617720"/>
            <a:ext cx="670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Perceived 'hatefulness' is personal and context-dependent, making ground truth labels noisy.</a:t>
            </a:r>
            <a:endParaRPr lang="en-US" sz="1050" dirty="0"/>
          </a:p>
        </p:txBody>
      </p:sp>
      <p:sp>
        <p:nvSpPr>
          <p:cNvPr id="129" name="Text 127"/>
          <p:cNvSpPr/>
          <p:nvPr/>
        </p:nvSpPr>
        <p:spPr>
          <a:xfrm>
            <a:off x="13935456" y="4983480"/>
            <a:ext cx="6702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multi-label annotations (toxicity, insult, threat, identity attack) instead of binary labels.</a:t>
            </a:r>
            <a:endParaRPr lang="en-US" sz="1050" dirty="0"/>
          </a:p>
        </p:txBody>
      </p:sp>
      <p:sp>
        <p:nvSpPr>
          <p:cNvPr id="130" name="Shape 128"/>
          <p:cNvSpPr/>
          <p:nvPr/>
        </p:nvSpPr>
        <p:spPr>
          <a:xfrm>
            <a:off x="13789152" y="5614416"/>
            <a:ext cx="6858000" cy="1207008"/>
          </a:xfrm>
          <a:prstGeom prst="rect">
            <a:avLst/>
          </a:prstGeom>
          <a:solidFill>
            <a:srgbClr val="F0FDF4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3789152" y="5614416"/>
            <a:ext cx="73152" cy="1207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3935456" y="5678424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Sarcasm &amp; Irony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13935456" y="5961888"/>
            <a:ext cx="670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Models often flag ironic content as toxic by reading literal words rather than intent.</a:t>
            </a:r>
            <a:endParaRPr lang="en-US" sz="1050" dirty="0"/>
          </a:p>
        </p:txBody>
      </p:sp>
      <p:sp>
        <p:nvSpPr>
          <p:cNvPr id="134" name="Text 132"/>
          <p:cNvSpPr/>
          <p:nvPr/>
        </p:nvSpPr>
        <p:spPr>
          <a:xfrm>
            <a:off x="13935456" y="6327648"/>
            <a:ext cx="6702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Leverage DistilBERT's contextual embeddings; manually review sampled sarcastic comments.</a:t>
            </a:r>
            <a:endParaRPr lang="en-US" sz="1050" dirty="0"/>
          </a:p>
        </p:txBody>
      </p:sp>
      <p:sp>
        <p:nvSpPr>
          <p:cNvPr id="135" name="Shape 133"/>
          <p:cNvSpPr/>
          <p:nvPr/>
        </p:nvSpPr>
        <p:spPr>
          <a:xfrm>
            <a:off x="13624560" y="7178040"/>
            <a:ext cx="7178040" cy="3154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36" name="Shape 134"/>
          <p:cNvSpPr/>
          <p:nvPr/>
        </p:nvSpPr>
        <p:spPr>
          <a:xfrm>
            <a:off x="13624560" y="7287768"/>
            <a:ext cx="91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3789152" y="7315200"/>
            <a:ext cx="6976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Expected Impact</a:t>
            </a:r>
            <a:endParaRPr lang="en-US" sz="1600" dirty="0"/>
          </a:p>
        </p:txBody>
      </p:sp>
      <p:sp>
        <p:nvSpPr>
          <p:cNvPr id="138" name="Shape 136"/>
          <p:cNvSpPr/>
          <p:nvPr/>
        </p:nvSpPr>
        <p:spPr>
          <a:xfrm>
            <a:off x="13789152" y="7772400"/>
            <a:ext cx="3401568" cy="10515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3880592" y="7863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140" name="Text 138"/>
          <p:cNvSpPr/>
          <p:nvPr/>
        </p:nvSpPr>
        <p:spPr>
          <a:xfrm>
            <a:off x="14410944" y="784555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Safer Online Spaces</a:t>
            </a:r>
            <a:endParaRPr lang="en-US" sz="1100" dirty="0"/>
          </a:p>
        </p:txBody>
      </p:sp>
      <p:sp>
        <p:nvSpPr>
          <p:cNvPr id="141" name="Text 139"/>
          <p:cNvSpPr/>
          <p:nvPr/>
        </p:nvSpPr>
        <p:spPr>
          <a:xfrm>
            <a:off x="14410944" y="8174736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act on targeted harassment before it escalates.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17373600" y="7772400"/>
            <a:ext cx="3401568" cy="10515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7465040" y="7863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</a:t>
            </a:r>
            <a:endParaRPr lang="en-US" sz="1800" dirty="0"/>
          </a:p>
        </p:txBody>
      </p:sp>
      <p:sp>
        <p:nvSpPr>
          <p:cNvPr id="144" name="Text 142"/>
          <p:cNvSpPr/>
          <p:nvPr/>
        </p:nvSpPr>
        <p:spPr>
          <a:xfrm>
            <a:off x="17995392" y="784555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Rights-Respecting Moderation</a:t>
            </a:r>
            <a:endParaRPr lang="en-US" sz="1100" dirty="0"/>
          </a:p>
        </p:txBody>
      </p:sp>
      <p:sp>
        <p:nvSpPr>
          <p:cNvPr id="145" name="Text 143"/>
          <p:cNvSpPr/>
          <p:nvPr/>
        </p:nvSpPr>
        <p:spPr>
          <a:xfrm>
            <a:off x="17995392" y="8174736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free expression from targeted harm, reducing over-censorship.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13789152" y="8961120"/>
            <a:ext cx="3401568" cy="10515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3880592" y="9052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8" name="Text 146"/>
          <p:cNvSpPr/>
          <p:nvPr/>
        </p:nvSpPr>
        <p:spPr>
          <a:xfrm>
            <a:off x="14410944" y="903427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 into Victimized Groups</a:t>
            </a:r>
            <a:endParaRPr lang="en-US" sz="1100" dirty="0"/>
          </a:p>
        </p:txBody>
      </p:sp>
      <p:sp>
        <p:nvSpPr>
          <p:cNvPr id="149" name="Text 147"/>
          <p:cNvSpPr/>
          <p:nvPr/>
        </p:nvSpPr>
        <p:spPr>
          <a:xfrm>
            <a:off x="14410944" y="9363456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patterns of targeting to inform community protection.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17373600" y="8961120"/>
            <a:ext cx="3401568" cy="10515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7465040" y="9052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52" name="Text 150"/>
          <p:cNvSpPr/>
          <p:nvPr/>
        </p:nvSpPr>
        <p:spPr>
          <a:xfrm>
            <a:off x="17995392" y="903427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Generalizable NLP Framework</a:t>
            </a:r>
            <a:endParaRPr lang="en-US" sz="1100" dirty="0"/>
          </a:p>
        </p:txBody>
      </p:sp>
      <p:sp>
        <p:nvSpPr>
          <p:cNvPr id="153" name="Text 151"/>
          <p:cNvSpPr/>
          <p:nvPr/>
        </p:nvSpPr>
        <p:spPr>
          <a:xfrm>
            <a:off x="17995392" y="9363456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pipeline for any platform's content moderation needs.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13624560" y="10469880"/>
            <a:ext cx="7178040" cy="35204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55" name="Shape 153"/>
          <p:cNvSpPr/>
          <p:nvPr/>
        </p:nvSpPr>
        <p:spPr>
          <a:xfrm>
            <a:off x="13624560" y="10579608"/>
            <a:ext cx="91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3789152" y="10607040"/>
            <a:ext cx="6976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Future Work &amp; Conclusions</a:t>
            </a:r>
            <a:endParaRPr lang="en-US" sz="1600" dirty="0"/>
          </a:p>
        </p:txBody>
      </p:sp>
      <p:sp>
        <p:nvSpPr>
          <p:cNvPr id="157" name="Shape 155"/>
          <p:cNvSpPr/>
          <p:nvPr/>
        </p:nvSpPr>
        <p:spPr>
          <a:xfrm>
            <a:off x="13789152" y="11064240"/>
            <a:ext cx="68580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3789152" y="1106424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13935456" y="11100816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Multilingual detection</a:t>
            </a:r>
            <a:endParaRPr lang="en-US" sz="1100" dirty="0"/>
          </a:p>
        </p:txBody>
      </p:sp>
      <p:sp>
        <p:nvSpPr>
          <p:cNvPr id="160" name="Text 158"/>
          <p:cNvSpPr/>
          <p:nvPr/>
        </p:nvSpPr>
        <p:spPr>
          <a:xfrm>
            <a:off x="13935456" y="11338560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Spanish, Arabic, and Hindi content.</a:t>
            </a:r>
            <a:endParaRPr lang="en-US" sz="1050" dirty="0"/>
          </a:p>
        </p:txBody>
      </p:sp>
      <p:sp>
        <p:nvSpPr>
          <p:cNvPr id="161" name="Shape 159"/>
          <p:cNvSpPr/>
          <p:nvPr/>
        </p:nvSpPr>
        <p:spPr>
          <a:xfrm>
            <a:off x="13789152" y="11686032"/>
            <a:ext cx="68580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3789152" y="11686032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13935456" y="11722608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inference pipeline</a:t>
            </a:r>
            <a:endParaRPr lang="en-US" sz="1100" dirty="0"/>
          </a:p>
        </p:txBody>
      </p:sp>
      <p:sp>
        <p:nvSpPr>
          <p:cNvPr id="164" name="Text 162"/>
          <p:cNvSpPr/>
          <p:nvPr/>
        </p:nvSpPr>
        <p:spPr>
          <a:xfrm>
            <a:off x="13935456" y="11960352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streaming inference for live social media.</a:t>
            </a:r>
            <a:endParaRPr lang="en-US" sz="1050" dirty="0"/>
          </a:p>
        </p:txBody>
      </p:sp>
      <p:sp>
        <p:nvSpPr>
          <p:cNvPr id="165" name="Shape 163"/>
          <p:cNvSpPr/>
          <p:nvPr/>
        </p:nvSpPr>
        <p:spPr>
          <a:xfrm>
            <a:off x="13789152" y="12307824"/>
            <a:ext cx="68580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3789152" y="12307824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3935456" y="12344400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 generalization</a:t>
            </a:r>
            <a:endParaRPr lang="en-US" sz="1100" dirty="0"/>
          </a:p>
        </p:txBody>
      </p:sp>
      <p:sp>
        <p:nvSpPr>
          <p:cNvPr id="168" name="Text 166"/>
          <p:cNvSpPr/>
          <p:nvPr/>
        </p:nvSpPr>
        <p:spPr>
          <a:xfrm>
            <a:off x="13935456" y="12582144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across Reddit, YouTube, Discord, TikTok.</a:t>
            </a:r>
            <a:endParaRPr lang="en-US" sz="1050" dirty="0"/>
          </a:p>
        </p:txBody>
      </p:sp>
      <p:sp>
        <p:nvSpPr>
          <p:cNvPr id="169" name="Shape 167"/>
          <p:cNvSpPr/>
          <p:nvPr/>
        </p:nvSpPr>
        <p:spPr>
          <a:xfrm>
            <a:off x="13789152" y="12929616"/>
            <a:ext cx="68580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3789152" y="12929616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3935456" y="12966192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 review</a:t>
            </a:r>
            <a:endParaRPr lang="en-US" sz="1100" dirty="0"/>
          </a:p>
        </p:txBody>
      </p:sp>
      <p:sp>
        <p:nvSpPr>
          <p:cNvPr id="172" name="Text 170"/>
          <p:cNvSpPr/>
          <p:nvPr/>
        </p:nvSpPr>
        <p:spPr>
          <a:xfrm>
            <a:off x="13935456" y="13203936"/>
            <a:ext cx="6702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for novel slang and emerging patterns.</a:t>
            </a:r>
            <a:endParaRPr lang="en-US" sz="1050" dirty="0"/>
          </a:p>
        </p:txBody>
      </p:sp>
      <p:sp>
        <p:nvSpPr>
          <p:cNvPr id="173" name="Shape 171"/>
          <p:cNvSpPr/>
          <p:nvPr/>
        </p:nvSpPr>
        <p:spPr>
          <a:xfrm>
            <a:off x="13789152" y="13624560"/>
            <a:ext cx="6858000" cy="777240"/>
          </a:xfrm>
          <a:prstGeom prst="rect">
            <a:avLst/>
          </a:prstGeom>
          <a:solidFill>
            <a:srgbClr val="1B2E45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3917168" y="13716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classical NLP with transformer-based models, this project sets a new benchmark for nuanced, equitable toxicity classification at scale.</a:t>
            </a:r>
            <a:endParaRPr lang="en-US" sz="1100" dirty="0"/>
          </a:p>
        </p:txBody>
      </p:sp>
      <p:sp>
        <p:nvSpPr>
          <p:cNvPr id="175" name="Shape 173"/>
          <p:cNvSpPr/>
          <p:nvPr/>
        </p:nvSpPr>
        <p:spPr>
          <a:xfrm>
            <a:off x="0" y="13972032"/>
            <a:ext cx="210312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0" y="13972032"/>
            <a:ext cx="21031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365760" y="14026896"/>
            <a:ext cx="1188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Colorado Boulder  ·  Data Science MS Program  ·  Spring 2026</a:t>
            </a:r>
            <a:endParaRPr lang="en-US" sz="1100" dirty="0"/>
          </a:p>
        </p:txBody>
      </p:sp>
      <p:sp>
        <p:nvSpPr>
          <p:cNvPr id="178" name="Text 176"/>
          <p:cNvSpPr/>
          <p:nvPr/>
        </p:nvSpPr>
        <p:spPr>
          <a:xfrm>
            <a:off x="9144000" y="14026896"/>
            <a:ext cx="11521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Hipparkar  ·  Himanshu Jain  ·  Augustine Joy  ·  Glen Vadakkoott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Hate Speech and Toxicity Mining</dc:title>
  <dc:subject>PptxGenJS Presentation</dc:subject>
  <dc:creator>PptxGenJS</dc:creator>
  <cp:lastModifiedBy>PptxGenJS</cp:lastModifiedBy>
  <cp:revision>1</cp:revision>
  <dcterms:created xsi:type="dcterms:W3CDTF">2026-04-13T20:13:17Z</dcterms:created>
  <dcterms:modified xsi:type="dcterms:W3CDTF">2026-04-13T20:13:17Z</dcterms:modified>
</cp:coreProperties>
</file>